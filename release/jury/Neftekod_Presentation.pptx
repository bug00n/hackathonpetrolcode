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2ff009626e43f1" /><Relationship Type="http://schemas.openxmlformats.org/officeDocument/2006/relationships/extended-properties" Target="/docProps/app.xml" Id="Rfa2dd10c5f144f79" /><Relationship Type="http://schemas.openxmlformats.org/officeDocument/2006/relationships/officeDocument" Target="/ppt/presentation.xml" Id="R149d8fdf34544f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887fd86bf8400c"/>
  </p:sldMasterIdLst>
  <p:notesMasterIdLst>
    <p:notesMasterId xmlns:r="http://schemas.openxmlformats.org/officeDocument/2006/relationships" r:id="R4e88f30ae1004dcc"/>
  </p:notesMasterIdLst>
  <p:sldIdLst>
    <p:sldId xmlns:r="http://schemas.openxmlformats.org/officeDocument/2006/relationships" id="256" r:id="R01bf21af1f2041ab"/>
    <p:sldId xmlns:r="http://schemas.openxmlformats.org/officeDocument/2006/relationships" id="257" r:id="Rfa7295286cca419b"/>
    <p:sldId xmlns:r="http://schemas.openxmlformats.org/officeDocument/2006/relationships" id="258" r:id="Rbd4d25faa11442b2"/>
    <p:sldId xmlns:r="http://schemas.openxmlformats.org/officeDocument/2006/relationships" id="259" r:id="R4edb9cdb26e74560"/>
    <p:sldId xmlns:r="http://schemas.openxmlformats.org/officeDocument/2006/relationships" id="260" r:id="Re193551ecab749e9"/>
    <p:sldId xmlns:r="http://schemas.openxmlformats.org/officeDocument/2006/relationships" id="261" r:id="R22d692ab0c774ea1"/>
    <p:sldId xmlns:r="http://schemas.openxmlformats.org/officeDocument/2006/relationships" id="262" r:id="Rc6c26994489948fa"/>
    <p:sldId xmlns:r="http://schemas.openxmlformats.org/officeDocument/2006/relationships" id="263" r:id="Ra3642dfdfdda4cb4"/>
    <p:sldId xmlns:r="http://schemas.openxmlformats.org/officeDocument/2006/relationships" id="264" r:id="Rd24430b8d1d24f21"/>
    <p:sldId xmlns:r="http://schemas.openxmlformats.org/officeDocument/2006/relationships" id="265" r:id="Rb3fc8e7ee7f74a62"/>
    <p:sldId xmlns:r="http://schemas.openxmlformats.org/officeDocument/2006/relationships" id="266" r:id="R86936ad56fad4c63"/>
    <p:sldId xmlns:r="http://schemas.openxmlformats.org/officeDocument/2006/relationships" id="267" r:id="R8c8d753d87bb4dba"/>
    <p:sldId xmlns:r="http://schemas.openxmlformats.org/officeDocument/2006/relationships" id="268" r:id="R373c517ed6264a83"/>
    <p:sldId xmlns:r="http://schemas.openxmlformats.org/officeDocument/2006/relationships" id="269" r:id="R364b8d7a6b4942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17900ec8614934" /><Relationship Type="http://schemas.openxmlformats.org/officeDocument/2006/relationships/slideMaster" Target="/ppt/slideMasters/slideMaster1.xml" Id="Rca887fd86bf8400c" /><Relationship Type="http://schemas.openxmlformats.org/officeDocument/2006/relationships/notesMaster" Target="/ppt/notesMasters/notesMaster1.xml" Id="R4e88f30ae1004dcc" /><Relationship Type="http://schemas.openxmlformats.org/officeDocument/2006/relationships/presProps" Target="/ppt/presProps.xml" Id="R4c11c34c2e264a68" /><Relationship Type="http://schemas.openxmlformats.org/officeDocument/2006/relationships/tableStyles" Target="/ppt/tableStyles.xml" Id="R151ad19c1d2243c1" /><Relationship Type="http://schemas.openxmlformats.org/officeDocument/2006/relationships/slide" Target="/ppt/slides/slide1.xml" Id="R01bf21af1f2041ab" /><Relationship Type="http://schemas.openxmlformats.org/officeDocument/2006/relationships/slide" Target="/ppt/slides/slide2.xml" Id="Rfa7295286cca419b" /><Relationship Type="http://schemas.openxmlformats.org/officeDocument/2006/relationships/slide" Target="/ppt/slides/slide3.xml" Id="Rbd4d25faa11442b2" /><Relationship Type="http://schemas.openxmlformats.org/officeDocument/2006/relationships/slide" Target="/ppt/slides/slide4.xml" Id="R4edb9cdb26e74560" /><Relationship Type="http://schemas.openxmlformats.org/officeDocument/2006/relationships/slide" Target="/ppt/slides/slide5.xml" Id="Re193551ecab749e9" /><Relationship Type="http://schemas.openxmlformats.org/officeDocument/2006/relationships/slide" Target="/ppt/slides/slide6.xml" Id="R22d692ab0c774ea1" /><Relationship Type="http://schemas.openxmlformats.org/officeDocument/2006/relationships/slide" Target="/ppt/slides/slide7.xml" Id="Rc6c26994489948fa" /><Relationship Type="http://schemas.openxmlformats.org/officeDocument/2006/relationships/slide" Target="/ppt/slides/slide8.xml" Id="Ra3642dfdfdda4cb4" /><Relationship Type="http://schemas.openxmlformats.org/officeDocument/2006/relationships/slide" Target="/ppt/slides/slide9.xml" Id="Rd24430b8d1d24f21" /><Relationship Type="http://schemas.openxmlformats.org/officeDocument/2006/relationships/slide" Target="/ppt/slides/slide10.xml" Id="Rb3fc8e7ee7f74a62" /><Relationship Type="http://schemas.openxmlformats.org/officeDocument/2006/relationships/slide" Target="/ppt/slides/slide11.xml" Id="R86936ad56fad4c63" /><Relationship Type="http://schemas.openxmlformats.org/officeDocument/2006/relationships/slide" Target="/ppt/slides/slide12.xml" Id="R8c8d753d87bb4dba" /><Relationship Type="http://schemas.openxmlformats.org/officeDocument/2006/relationships/slide" Target="/ppt/slides/slide13.xml" Id="R373c517ed6264a83" /><Relationship Type="http://schemas.openxmlformats.org/officeDocument/2006/relationships/slide" Target="/ppt/slides/slide14.xml" Id="R364b8d7a6b4942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9061dca89d45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c11986c5e04882" /><Relationship Type="http://schemas.openxmlformats.org/officeDocument/2006/relationships/notesMaster" Target="/ppt/notesMasters/notesMaster1.xml" Id="Rbca5a34222e64f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c55e7914704bec" /><Relationship Type="http://schemas.openxmlformats.org/officeDocument/2006/relationships/notesMaster" Target="/ppt/notesMasters/notesMaster1.xml" Id="R92c3f58578434e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85e3cd9bce42a2" /><Relationship Type="http://schemas.openxmlformats.org/officeDocument/2006/relationships/notesMaster" Target="/ppt/notesMasters/notesMaster1.xml" Id="R60567329931341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7302d984714ed3" /><Relationship Type="http://schemas.openxmlformats.org/officeDocument/2006/relationships/notesMaster" Target="/ppt/notesMasters/notesMaster1.xml" Id="R04d5e2364ba643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67b3eb97294137" /><Relationship Type="http://schemas.openxmlformats.org/officeDocument/2006/relationships/notesMaster" Target="/ppt/notesMasters/notesMaster1.xml" Id="Rc72dbff6eaa14e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ae1ba7231847a6" /><Relationship Type="http://schemas.openxmlformats.org/officeDocument/2006/relationships/notesMaster" Target="/ppt/notesMasters/notesMaster1.xml" Id="Rfdd3e46c58be48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d290bacacd475c" /><Relationship Type="http://schemas.openxmlformats.org/officeDocument/2006/relationships/notesMaster" Target="/ppt/notesMasters/notesMaster1.xml" Id="R6327f09665634f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cbe71ba0124cc1" /><Relationship Type="http://schemas.openxmlformats.org/officeDocument/2006/relationships/notesMaster" Target="/ppt/notesMasters/notesMaster1.xml" Id="R8afdfb00e8874c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2a7ca4d8704c2d" /><Relationship Type="http://schemas.openxmlformats.org/officeDocument/2006/relationships/notesMaster" Target="/ppt/notesMasters/notesMaster1.xml" Id="Re3074ecc669e4f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6099703b814678" /><Relationship Type="http://schemas.openxmlformats.org/officeDocument/2006/relationships/notesMaster" Target="/ppt/notesMasters/notesMaster1.xml" Id="R22fa0f81011148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2c9b83112c405e" /><Relationship Type="http://schemas.openxmlformats.org/officeDocument/2006/relationships/notesMaster" Target="/ppt/notesMasters/notesMaster1.xml" Id="R5754204358af47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ea5232d01774278" /><Relationship Type="http://schemas.openxmlformats.org/officeDocument/2006/relationships/notesMaster" Target="/ppt/notesMasters/notesMaster1.xml" Id="R7cc4a5057d364a0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c6cd8f492fe4663" /><Relationship Type="http://schemas.openxmlformats.org/officeDocument/2006/relationships/notesMaster" Target="/ppt/notesMasters/notesMaster1.xml" Id="R448f925c833f420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59226a843e34824" /><Relationship Type="http://schemas.openxmlformats.org/officeDocument/2006/relationships/notesMaster" Target="/ppt/notesMasters/notesMaster1.xml" Id="Refc69c1fadf84e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Прототип не управляет оборудованием. Концептуальная иллюстрация не является фотографией конкретного предприятия.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Версия: финальная поставка 22.09.2026, выпуск v1.1.0.</a:t>
            </a:r>
          </a:p>
          <a:p xmlns:a="http://schemas.openxmlformats.org/drawingml/2006/main">
            <a:r>
              <a:t>Источники проекта:</a:t>
            </a:r>
          </a:p>
          <a:p xmlns:a="http://schemas.openxmlformats.org/drawingml/2006/main">
            <a:r>
              <a:t>D:/ML/hakneft/HackathonPetrolCode/release/JURY_REPORT.md</a:t>
            </a:r>
          </a:p>
          <a:p xmlns:a="http://schemas.openxmlformats.org/drawingml/2006/main">
            <a:r>
              <a:t>D:/ML/hakneft/HackathonPetrolCode/release/evidence/jury-evidence.json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Hybrid связывает прогноз серы с условной рецептурой, но не доказывает динамику всей цепочки. Реальные уставки отключены.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Версия: финальная поставка 22.09.2026, выпуск v1.1.0.</a:t>
            </a:r>
          </a:p>
          <a:p xmlns:a="http://schemas.openxmlformats.org/drawingml/2006/main">
            <a:r>
              <a:t>Источники проекта:</a:t>
            </a:r>
          </a:p>
          <a:p xmlns:a="http://schemas.openxmlformats.org/drawingml/2006/main">
            <a:r>
              <a:t>D:/ML/hakneft/HackathonPetrolCode/release/JURY_REPORT.md</a:t>
            </a:r>
          </a:p>
          <a:p xmlns:a="http://schemas.openxmlformats.org/drawingml/2006/main">
            <a:r>
              <a:t>D:/ML/hakneft/HackathonPetrolCode/release/evidence/jury-evidence.json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Поясняющий пример часов. Четырёхчасовая задержка ЛИМС — явная конфигурация. Prepared dataset содержит 189217 строк телеметрии и 301901 наблюдение качества.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Версия: финальная поставка 22.09.2026, выпуск v1.1.0.</a:t>
            </a:r>
          </a:p>
          <a:p xmlns:a="http://schemas.openxmlformats.org/drawingml/2006/main">
            <a:r>
              <a:t>Источники проекта:</a:t>
            </a:r>
          </a:p>
          <a:p xmlns:a="http://schemas.openxmlformats.org/drawingml/2006/main">
            <a:r>
              <a:t>D:/ML/hakneft/HackathonPetrolCode/DESIGN.md</a:t>
            </a:r>
          </a:p>
          <a:p xmlns:a="http://schemas.openxmlformats.org/drawingml/2006/main">
            <a:r>
              <a:t>D:/ML/hakneft/HackathonPetrolCode/release/JURY_REPORT.md</a:t>
            </a:r>
          </a:p>
          <a:p xmlns:a="http://schemas.openxmlformats.org/drawingml/2006/main">
            <a:r>
              <a:t>D:/ML/hakneft/HackathonPetrolCode/release/evidence/jury-evidence.json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Неизвестное значение передаётся как null, не как ноль. Недопустимый вариант не становится допустимым из-за экономической выгоды.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Версия: финальная поставка 22.09.2026, выпуск v1.1.0.</a:t>
            </a:r>
          </a:p>
          <a:p xmlns:a="http://schemas.openxmlformats.org/drawingml/2006/main">
            <a:r>
              <a:t>Источники проекта:</a:t>
            </a:r>
          </a:p>
          <a:p xmlns:a="http://schemas.openxmlformats.org/drawingml/2006/main">
            <a:r>
              <a:t>D:/ML/hakneft/HackathonPetrolCode/DESIGN.md</a:t>
            </a:r>
          </a:p>
          <a:p xmlns:a="http://schemas.openxmlformats.org/drawingml/2006/main">
            <a:r>
              <a:t>D:/ML/hakneft/HackathonPetrolCode/release/JURY_REPORT.md</a:t>
            </a:r>
          </a:p>
          <a:p xmlns:a="http://schemas.openxmlformats.org/drawingml/2006/main">
            <a:r>
              <a:t>D:/ML/hakneft/HackathonPetrolCode/release/evidence/jury-evidence.json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Снимок текущего приложения. Выбранный состав также проходит T95 354 °C и CN 52.6. Синтетическая модель эффекта присадки.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Версия: финальная поставка 22.09.2026, выпуск v1.1.0.</a:t>
            </a:r>
          </a:p>
          <a:p xmlns:a="http://schemas.openxmlformats.org/drawingml/2006/main">
            <a:r>
              <a:t>Источники проекта:</a:t>
            </a:r>
          </a:p>
          <a:p xmlns:a="http://schemas.openxmlformats.org/drawingml/2006/main">
            <a:r>
              <a:t>D:/ML/hakneft/HackathonPetrolCode/release/JURY_REPORT.md</a:t>
            </a:r>
          </a:p>
          <a:p xmlns:a="http://schemas.openxmlformats.org/drawingml/2006/main">
            <a:r>
              <a:t>D:/ML/hakneft/HackathonPetrolCode/release/evidence/jury-evidence.json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Пять основных acceptance-эпизодов и дополнительный regression/evidence сценарий blend_tradeoff. Все свойства и экономические индексы модельные.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Версия: финальная поставка 22.09.2026, выпуск v1.1.0.</a:t>
            </a:r>
          </a:p>
          <a:p xmlns:a="http://schemas.openxmlformats.org/drawingml/2006/main">
            <a:r>
              <a:t>Источники проекта:</a:t>
            </a:r>
          </a:p>
          <a:p xmlns:a="http://schemas.openxmlformats.org/drawingml/2006/main">
            <a:r>
              <a:t>D:/ML/hakneft/HackathonPetrolCode/release/JURY_REPORT.md</a:t>
            </a:r>
          </a:p>
          <a:p xmlns:a="http://schemas.openxmlformats.org/drawingml/2006/main">
            <a:r>
              <a:t>D:/ML/hakneft/HackathonPetrolCode/release/evidence/jury-evidence.json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blend_tradeoff: A=.891, B=.099, additive=.01. Это свидетельство работы порядка критериев, не оптимизация реальной производительности.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Версия: финальная поставка 22.09.2026, выпуск v1.1.0.</a:t>
            </a:r>
          </a:p>
          <a:p xmlns:a="http://schemas.openxmlformats.org/drawingml/2006/main">
            <a:r>
              <a:t>Источники проекта:</a:t>
            </a:r>
          </a:p>
          <a:p xmlns:a="http://schemas.openxmlformats.org/drawingml/2006/main">
            <a:r>
              <a:t>D:/ML/hakneft/HackathonPetrolCode/release/JURY_REPORT.md</a:t>
            </a:r>
          </a:p>
          <a:p xmlns:a="http://schemas.openxmlformats.org/drawingml/2006/main">
            <a:r>
              <a:t>D:/ML/hakneft/HackathonPetrolCode/release/evidence/jury-evidence.json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 66bdfcbb23b4, artifact sulfur-upper-33efba3c3141. Две точки около17с вместо62с на машине проверки, семь около48с. Это измерение, не универсальная гарантия скорости.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Версия: финальная поставка 22.09.2026, выпуск v1.1.0.</a:t>
            </a:r>
          </a:p>
          <a:p xmlns:a="http://schemas.openxmlformats.org/drawingml/2006/main">
            <a:r>
              <a:t>Источники проекта:</a:t>
            </a:r>
          </a:p>
          <a:p xmlns:a="http://schemas.openxmlformats.org/drawingml/2006/main">
            <a:r>
              <a:t>D:/ML/hakneft/HackathonPetrolCode/release/JURY_REPORT.md</a:t>
            </a:r>
          </a:p>
          <a:p xmlns:a="http://schemas.openxmlformats.org/drawingml/2006/main">
            <a:r>
              <a:t>D:/ML/hakneft/HackathonPetrolCode/release/evidence/jury-evidence.json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 не использован здесь для переобучения или выбора модели. Validation финального переобученного артефакта помечен как in_sample_diagnostic. False alarms 1345/27113=4.96%.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Версия: финальная поставка 22.09.2026, выпуск v1.1.0.</a:t>
            </a:r>
          </a:p>
          <a:p xmlns:a="http://schemas.openxmlformats.org/drawingml/2006/main">
            <a:r>
              <a:t>Источники проекта:</a:t>
            </a:r>
          </a:p>
          <a:p xmlns:a="http://schemas.openxmlformats.org/drawingml/2006/main">
            <a:r>
              <a:t>D:/ML/hakneft/HackathonPetrolCode/release/evidence/forecast-test/metrics.json</a:t>
            </a:r>
          </a:p>
          <a:p xmlns:a="http://schemas.openxmlformats.org/drawingml/2006/main">
            <a:r>
              <a:t>D:/ML/hakneft/HackathonPetrolCode/release/JURY_REPORT.md</a:t>
            </a:r>
          </a:p>
          <a:p xmlns:a="http://schemas.openxmlformats.org/drawingml/2006/main">
            <a:r>
              <a:t>D:/ML/hakneft/HackathonPetrolCode/release/evidence/jury-evidence.json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Фактические hybrid/v2 результаты сохранены в jury-evidence.json. LIMS correction остаётся отдельной диагностикой. supports_actions=false.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Версия: финальная поставка 22.09.2026, выпуск v1.1.0.</a:t>
            </a:r>
          </a:p>
          <a:p xmlns:a="http://schemas.openxmlformats.org/drawingml/2006/main">
            <a:r>
              <a:t>Источники проекта:</a:t>
            </a:r>
          </a:p>
          <a:p xmlns:a="http://schemas.openxmlformats.org/drawingml/2006/main">
            <a:r>
              <a:t>D:/ML/hakneft/HackathonPetrolCode/release/JURY_REPORT.md</a:t>
            </a:r>
          </a:p>
          <a:p xmlns:a="http://schemas.openxmlformats.org/drawingml/2006/main">
            <a:r>
              <a:t>D:/ML/hakneft/HackathonPetrolCode/release/evidence/jury-evidence.json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Распаковать весь архив в доступную для записи папку, не переносить EXE отдельно от _internal. EXE не подписан: соблюдать политику компьютера. При сбое startup-error.log.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Версия: финальная поставка 22.09.2026, выпуск v1.1.0.</a:t>
            </a:r>
          </a:p>
          <a:p xmlns:a="http://schemas.openxmlformats.org/drawingml/2006/main">
            <a:r>
              <a:t>Источники проекта:</a:t>
            </a:r>
          </a:p>
          <a:p xmlns:a="http://schemas.openxmlformats.org/drawingml/2006/main">
            <a:r>
              <a:t>D:/ML/hakneft/HackathonPetrolCode/release/README_FIRST.md</a:t>
            </a:r>
          </a:p>
          <a:p xmlns:a="http://schemas.openxmlformats.org/drawingml/2006/main">
            <a:r>
              <a:t>D:/ML/hakneft/HackathonPetrolCode/release/DEMO_SCRIPT.md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Файлы preset неизменны. Пустое качество — неизвестное. Недостаточные запасы дают отказ. В Повышенной сере измените серу A 6→1 и upper 7→2. Затем сбросьте и пересчитайте. JSON-экспорт содержит synthetic_scenario. Реальные уставки отключены.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Версия: финальная поставка 22.09.2026, выпуск v1.1.0.</a:t>
            </a:r>
          </a:p>
          <a:p xmlns:a="http://schemas.openxmlformats.org/drawingml/2006/main">
            <a:r>
              <a:t>Источники проекта:</a:t>
            </a:r>
          </a:p>
          <a:p xmlns:a="http://schemas.openxmlformats.org/drawingml/2006/main">
            <a:r>
              <a:t>D:/ML/hakneft/HackathonPetrolCode/release/DEMO_SCRIPT.md</a:t>
            </a:r>
          </a:p>
          <a:p xmlns:a="http://schemas.openxmlformats.org/drawingml/2006/main">
            <a:r>
              <a:t>D:/ML/hakneft/HackathonPetrolCode/source/ui_what_if.py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Каждая точка показывает прогноз на as_of + 60 минут; это не измеренный факт. Пропуски остаются разрывами. Наведение раскрывает точные значения. Исходные 12:00 и 13:00 дают целевые 13:00 и 14:00. Прогресс, отмена и JSON-экспорт сохранены.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Версия: финальная поставка 22.09.2026, выпуск v1.1.0.</a:t>
            </a:r>
          </a:p>
          <a:p xmlns:a="http://schemas.openxmlformats.org/drawingml/2006/main">
            <a:r>
              <a:t>Источники проекта:</a:t>
            </a:r>
          </a:p>
          <a:p xmlns:a="http://schemas.openxmlformats.org/drawingml/2006/main">
            <a:r>
              <a:t>D:/ML/hakneft/HackathonPetrolCode/release/DEMO_SCRIPT.md</a:t>
            </a:r>
          </a:p>
          <a:p xmlns:a="http://schemas.openxmlformats.org/drawingml/2006/main">
            <a:r>
              <a:t>D:/ML/hakneft/HackathonPetrolCode/source/ui_charts.py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промышленного внедрения нужны инженерные диапазоны, карта потоков и задержек, валидация действий и надёжности, экономические данные. Это следующий этап, не скрытая возможность поставки.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Версия: финальная поставка 22.09.2026, выпуск v1.1.0.</a:t>
            </a:r>
          </a:p>
          <a:p xmlns:a="http://schemas.openxmlformats.org/drawingml/2006/main">
            <a:r>
              <a:t>Источники проекта:</a:t>
            </a:r>
          </a:p>
          <a:p xmlns:a="http://schemas.openxmlformats.org/drawingml/2006/main">
            <a:r>
              <a:t>D:/ML/hakneft/HackathonPetrolCode/release/JURY_REPORT.md</a:t>
            </a:r>
          </a:p>
          <a:p xmlns:a="http://schemas.openxmlformats.org/drawingml/2006/main">
            <a:r>
              <a:t>D:/ML/hakneft/HackathonPetrolCode/release/evidence/jury-evidence.json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c5bd2f892649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d4fe18ff5f4366" /><Relationship Type="http://schemas.openxmlformats.org/officeDocument/2006/relationships/slideLayout" Target="/ppt/slideLayouts/slideLayout1.xml" Id="Rb17edc4b213a4e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7edc4b213a4e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be8bdfade452d" /><Relationship Type="http://schemas.openxmlformats.org/officeDocument/2006/relationships/image" Target="/ppt/media/image.png" Id="Re38cb8f5c5eb4306" /><Relationship Type="http://schemas.openxmlformats.org/officeDocument/2006/relationships/notesSlide" Target="/ppt/notesSlides/notesSlide1.xml" Id="R09135969cccf40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082f8a4234365" /><Relationship Type="http://schemas.openxmlformats.org/officeDocument/2006/relationships/notesSlide" Target="/ppt/notesSlides/notesSlide2.xml" Id="R7ba09675646a42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937725cde4326" /><Relationship Type="http://schemas.openxmlformats.org/officeDocument/2006/relationships/notesSlide" Target="/ppt/notesSlides/notesSlide3.xml" Id="R68f245c2650a4d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d5be82e0e437e" /><Relationship Type="http://schemas.openxmlformats.org/officeDocument/2006/relationships/notesSlide" Target="/ppt/notesSlides/notesSlide4.xml" Id="R8c0f172e0a2e46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7b416a00c49e9" /><Relationship Type="http://schemas.openxmlformats.org/officeDocument/2006/relationships/image" Target="/ppt/media/image2.png" Id="R46515a79bac24d74" /><Relationship Type="http://schemas.openxmlformats.org/officeDocument/2006/relationships/notesSlide" Target="/ppt/notesSlides/notesSlide5.xml" Id="Rce58e2c5bc824a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28d28d9524d8c" /><Relationship Type="http://schemas.openxmlformats.org/officeDocument/2006/relationships/notesSlide" Target="/ppt/notesSlides/notesSlide6.xml" Id="R31de03f05bc943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143d8fdaa499d" /><Relationship Type="http://schemas.openxmlformats.org/officeDocument/2006/relationships/notesSlide" Target="/ppt/notesSlides/notesSlide7.xml" Id="Rdaeae23b8fd74d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e4325c92743ce" /><Relationship Type="http://schemas.openxmlformats.org/officeDocument/2006/relationships/notesSlide" Target="/ppt/notesSlides/notesSlide8.xml" Id="R64415569dc5149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b52732fb141c2" /><Relationship Type="http://schemas.openxmlformats.org/officeDocument/2006/relationships/notesSlide" Target="/ppt/notesSlides/notesSlide9.xml" Id="Rfb25383fab2342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711cb12f942d9" /><Relationship Type="http://schemas.openxmlformats.org/officeDocument/2006/relationships/notesSlide" Target="/ppt/notesSlides/notesSlide10.xml" Id="Rf75df007676242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0c4c1966d44cb" /><Relationship Type="http://schemas.openxmlformats.org/officeDocument/2006/relationships/notesSlide" Target="/ppt/notesSlides/notesSlide11.xml" Id="R2660f215cbe947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acf630ca1446d" /><Relationship Type="http://schemas.openxmlformats.org/officeDocument/2006/relationships/image" Target="/ppt/media/image3.png" Id="R1c4efcdb083f4924" /><Relationship Type="http://schemas.openxmlformats.org/officeDocument/2006/relationships/notesSlide" Target="/ppt/notesSlides/notesSlide12.xml" Id="R28cfdb083ec443c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b4661e3674bcf" /><Relationship Type="http://schemas.openxmlformats.org/officeDocument/2006/relationships/image" Target="/ppt/media/image4.png" Id="Rb8d58a9bb51d4d43" /><Relationship Type="http://schemas.openxmlformats.org/officeDocument/2006/relationships/notesSlide" Target="/ppt/notesSlides/notesSlide13.xml" Id="Rdf586c2ed62f470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26dd5048f4e12" /><Relationship Type="http://schemas.openxmlformats.org/officeDocument/2006/relationships/notesSlide" Target="/ppt/notesSlides/notesSlide14.xml" Id="Rcfbc7d0eb7344c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cb8f5c5eb430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47240E-EED6-4A41-B2F0-91BE338D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2D8C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2D8C7"/>
                </a:solidFill>
                <a:latin typeface="Arial"/>
                <a:ea typeface="Arial"/>
                <a:cs typeface="Arial"/>
              </a:rPr>
              <a:t>НЕФТЕКОД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B1063-CAA2-43C4-AF27-53028052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8572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Качество топлива.</a:t>
            </a:r>
          </a:p>
          <a:p xmlns:a="http://schemas.openxmlformats.org/drawingml/2006/main">
            <a:pPr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Проверяемое</a:t>
            </a:r>
          </a:p>
          <a:p xmlns:a="http://schemas.openxmlformats.org/drawingml/2006/main">
            <a:pPr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решение.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BD5CF-6C31-4B2A-93EA-5745DBF1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Локальный прототип поддержки технолога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BE7F5-EF97-4124-B891-4D8DF35B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FC3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3CA"/>
                </a:solidFill>
                <a:latin typeface="Arial"/>
                <a:ea typeface="Arial"/>
                <a:cs typeface="Arial"/>
              </a:rPr>
              <a:t>ФИНАЛЬНАЯ ПОСТАВКА  /  22 СЕНТЯБРЯ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19688342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9A19E1-A730-4EE4-9A93-CF763DCF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ЗАДАЧА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E76A7-E412-4E2A-B4AC-93050A2F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52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52C"/>
                </a:solidFill>
                <a:latin typeface="Arial"/>
                <a:ea typeface="Arial"/>
                <a:cs typeface="Arial"/>
              </a:rPr>
              <a:t>Одна цепочка. Разные уровни доказательств.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B014A-ED8B-4D7B-8EC1-1155AD2E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86C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C73"/>
                </a:solidFill>
                <a:latin typeface="Arial"/>
                <a:ea typeface="Arial"/>
                <a:cs typeface="Arial"/>
              </a:rPr>
              <a:t>НЕФТЕКОД 2.0  /  СИСТЕМА ПОДДЕРЖКИ РЕШЕНИЙ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700E49-83F3-4B07-95D8-12DA6E3C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410325"/>
            <a:ext cx="523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59458-715B-4C97-915D-C683EA69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АВТ  →  Гидроочистка  →  Смешение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1E603-0644-464D-A8AA-FC033289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007F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856AD-387B-404B-8004-EE1BC8B2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38475"/>
            <a:ext cx="1015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5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52C"/>
                </a:solidFill>
                <a:latin typeface="Arial"/>
                <a:ea typeface="Arial"/>
                <a:cs typeface="Arial"/>
              </a:rPr>
              <a:t>История: измерения и прогноз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7991B-CE7C-4ED4-BE30-06D3CF7D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10058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C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C73"/>
                </a:solidFill>
                <a:latin typeface="Arial"/>
                <a:ea typeface="Arial"/>
                <a:cs typeface="Arial"/>
              </a:rPr>
              <a:t>Доступные к моменту расчёта данные; оценка серы через 60 минут.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79ADB-DE23-47B0-97C1-ADC85A62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007F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C1D10-7906-4C11-8DCB-C20E8B23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29125"/>
            <a:ext cx="1015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5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52C"/>
                </a:solidFill>
                <a:latin typeface="Arial"/>
                <a:ea typeface="Arial"/>
                <a:cs typeface="Arial"/>
              </a:rPr>
              <a:t>Смешение: модельная рецептура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397EDF-087B-4369-B36B-88F57D34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95850"/>
            <a:ext cx="10058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C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C73"/>
                </a:solidFill>
                <a:latin typeface="Arial"/>
                <a:ea typeface="Arial"/>
                <a:cs typeface="Arial"/>
              </a:rPr>
              <a:t>Проверка серы, T95, цетанового числа и допустимости состава.</a:t>
            </a:r>
          </a:p>
        </p:txBody>
      </p:sp>
    </p:spTree>
    <p:extLst>
      <p:ext uri="{BB962C8B-B14F-4D97-AF65-F5344CB8AC3E}">
        <p14:creationId xmlns:p14="http://schemas.microsoft.com/office/powerpoint/2010/main" val="632606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A814AD-8936-4ADB-B7AF-E418E45E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2D8C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2D8C7"/>
                </a:solidFill>
                <a:latin typeface="Arial"/>
                <a:ea typeface="Arial"/>
                <a:cs typeface="Arial"/>
              </a:rPr>
              <a:t>КОНТРАКТ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67545-D7DF-44C5-A3A4-D9741098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Будущий анализ не становится известным заранее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A42E6-3820-4AB8-8DA2-7CBF6FB4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3A9B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3A9B1"/>
                </a:solidFill>
                <a:latin typeface="Arial"/>
                <a:ea typeface="Arial"/>
                <a:cs typeface="Arial"/>
              </a:rPr>
              <a:t>НЕФТЕКОД 2.0  /  СИСТЕМА ПОДДЕРЖКИ РЕШЕНИЙ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47483-37C6-4F7B-AA64-38FF789B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410325"/>
            <a:ext cx="523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2D8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2D8C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C4545-3F91-4114-8A2D-2525D392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72D8C7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72D8C7"/>
                </a:solidFill>
                <a:latin typeface="Arial"/>
                <a:ea typeface="Arial"/>
                <a:cs typeface="Arial"/>
              </a:rPr>
              <a:t>10:00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8100B-C76F-477E-8F29-95BC9D11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62175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12:00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37CF5C-5BCC-4E09-A4C4-7BF2CEF2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62175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F3BA6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F3BA68"/>
                </a:solidFill>
                <a:latin typeface="Arial"/>
                <a:ea typeface="Arial"/>
                <a:cs typeface="Arial"/>
              </a:rPr>
              <a:t>14:00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DCD3A5-AD3A-443B-9136-1478AA42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Отбор пробы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measured_at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340B4-1BCD-4F10-A727-D7E22C05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766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Расчёт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анализ ещё недоступен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D105C9-1F52-4BE1-8F7A-74F6B609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2766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Публикация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available_at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740CAA-703D-4C26-8B3A-09E92237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72D8C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72D8C7"/>
                </a:solidFill>
                <a:latin typeface="Arial"/>
                <a:ea typeface="Arial"/>
                <a:cs typeface="Arial"/>
              </a:rPr>
              <a:t>measured_at ≤ t   и   available_at ≤ 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1BF063-7CBE-4717-BF68-80804EEB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8C9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8C9CD"/>
                </a:solidFill>
                <a:latin typeface="Arial"/>
                <a:ea typeface="Arial"/>
                <a:cs typeface="Arial"/>
              </a:rPr>
              <a:t>Источник, свежесть, пропуски и конфликты остаются видимыми.</a:t>
            </a:r>
          </a:p>
        </p:txBody>
      </p:sp>
    </p:spTree>
    <p:extLst>
      <p:ext uri="{BB962C8B-B14F-4D97-AF65-F5344CB8AC3E}">
        <p14:creationId xmlns:p14="http://schemas.microsoft.com/office/powerpoint/2010/main" val="9937616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A78C0-512F-4E13-AA7C-8D9F8017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АРХИТЕКТУРА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7E25C-5424-428D-A313-E659E1BC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52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52C"/>
                </a:solidFill>
                <a:latin typeface="Arial"/>
                <a:ea typeface="Arial"/>
                <a:cs typeface="Arial"/>
              </a:rPr>
              <a:t>Роли агентов — проверяемые входы и выходы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E4DCA-7D2B-47D7-BCD2-2CD6F96F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86C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C73"/>
                </a:solidFill>
                <a:latin typeface="Arial"/>
                <a:ea typeface="Arial"/>
                <a:cs typeface="Arial"/>
              </a:rPr>
              <a:t>НЕФТЕКОД 2.0  /  СИСТЕМА ПОДДЕРЖКИ РЕШЕНИЙ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30F67-BBD2-4CBB-95B8-76E5996B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410325"/>
            <a:ext cx="523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05275"/>
                <a:gridCol w="6867525"/>
              </a:tblGrid>
              <a:tr h="6477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Компонент</a:t>
                      </a:r>
                    </a:p>
                  </a:txBody>
                  <a:tcPr marL="133350" marR="133350" marT="123825" marB="95250">
                    <a:solidFill>
                      <a:srgbClr val="1425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Ответственность</a:t>
                      </a:r>
                    </a:p>
                  </a:txBody>
                  <a:tcPr marL="133350" marR="133350" marT="123825" marB="95250">
                    <a:solidFill>
                      <a:srgbClr val="14252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Данные и признаки</a:t>
                      </a:r>
                    </a:p>
                  </a:txBody>
                  <a:tcPr marL="133350" marR="133350" marT="123825" marB="95250">
                    <a:solidFill>
                      <a:srgbClr val="E5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Доступное состояние, лаги и окна</a:t>
                      </a:r>
                    </a:p>
                  </a:txBody>
                  <a:tcPr marL="133350" marR="133350" marT="123825" marB="95250">
                    <a:solidFill>
                      <a:srgbClr val="E5EBE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Агенты качества и надёжности</a:t>
                      </a:r>
                    </a:p>
                  </a:txBody>
                  <a:tcPr marL="133350" marR="133350" marT="123825" marB="95250"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Оценка свойств и риска либо явный отказ</a:t>
                      </a:r>
                    </a:p>
                  </a:txBody>
                  <a:tcPr marL="133350" marR="133350" marT="123825" marB="95250">
                    <a:solidFill>
                      <a:srgbClr val="F2F3E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Оптимизатор и оркестратор</a:t>
                      </a:r>
                    </a:p>
                  </a:txBody>
                  <a:tcPr marL="133350" marR="133350" marT="123825" marB="95250">
                    <a:solidFill>
                      <a:srgbClr val="E5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Кандидаты → ограничения → порядок критериев</a:t>
                      </a:r>
                    </a:p>
                  </a:txBody>
                  <a:tcPr marL="133350" marR="133350" marT="123825" marB="95250">
                    <a:solidFill>
                      <a:srgbClr val="E5EBE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Интерфейс и журнал</a:t>
                      </a:r>
                    </a:p>
                  </a:txBody>
                  <a:tcPr marL="133350" marR="133350" marT="123825" marB="95250"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Объяснение, рецептура, JSON и след расчёта</a:t>
                      </a:r>
                    </a:p>
                  </a:txBody>
                  <a:tcPr marL="133350" marR="133350" marT="123825" marB="95250">
                    <a:solidFill>
                      <a:srgbClr val="F2F3E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471B4-9737-4258-BFFD-23406B76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0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Локальный Python. LLM и внешние API для расчёта не нужны.</a:t>
            </a:r>
          </a:p>
        </p:txBody>
      </p:sp>
    </p:spTree>
    <p:extLst>
      <p:ext uri="{BB962C8B-B14F-4D97-AF65-F5344CB8AC3E}">
        <p14:creationId xmlns:p14="http://schemas.microsoft.com/office/powerpoint/2010/main" val="10401571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EBF287-D0D2-4C18-8179-019EE2FF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РЕАЛЬНЫЙ ЭКРАН ПРОДУКТА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3248C-849A-48D5-865E-F7AFBEAF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52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52C"/>
                </a:solidFill>
                <a:latin typeface="Arial"/>
                <a:ea typeface="Arial"/>
                <a:cs typeface="Arial"/>
              </a:rPr>
              <a:t>От исходного состояния к точной рецептуре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0DA61-8EDC-406D-ABC2-01DED7A8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86C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C73"/>
                </a:solidFill>
                <a:latin typeface="Arial"/>
                <a:ea typeface="Arial"/>
                <a:cs typeface="Arial"/>
              </a:rPr>
              <a:t>НЕФТЕКОД 2.0  /  СИСТЕМА ПОДДЕРЖКИ РЕШЕНИЙ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22565-608F-4B2D-96B2-BDEC96FE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410325"/>
            <a:ext cx="523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515a79bac24d74"/>
          <a:stretch xmlns:a="http://schemas.openxmlformats.org/drawingml/2006/main"/>
        </p:blipFill>
        <p:spPr>
          <a:xfrm xmlns:a="http://schemas.openxmlformats.org/drawingml/2006/main">
            <a:off x="609600" y="2178459"/>
            <a:ext cx="6334125" cy="386315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4DA62-ED2A-4AC0-9C7F-FB8356F9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47900"/>
            <a:ext cx="4429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14,058 → 9,306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6A5BB-4A6A-484B-922B-69633022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14675"/>
            <a:ext cx="40386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5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52C"/>
                </a:solidFill>
                <a:latin typeface="Arial"/>
                <a:ea typeface="Arial"/>
                <a:cs typeface="Arial"/>
              </a:rPr>
              <a:t>мг/кг, верхняя</a:t>
            </a:r>
          </a:p>
          <a:p xmlns:a="http://schemas.openxmlformats.org/drawingml/2006/main">
            <a:pPr>
              <a:defRPr sz="2100" b="0">
                <a:solidFill>
                  <a:srgbClr val="1425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52C"/>
                </a:solidFill>
                <a:latin typeface="Arial"/>
                <a:ea typeface="Arial"/>
                <a:cs typeface="Arial"/>
              </a:rPr>
              <a:t>модельная оценка серы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59611-2291-4B41-9C24-8F6B2E1F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381500"/>
            <a:ext cx="4143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252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52C"/>
                </a:solidFill>
                <a:latin typeface="Arial"/>
                <a:ea typeface="Arial"/>
                <a:cs typeface="Arial"/>
              </a:rPr>
              <a:t>A / B / присадка</a:t>
            </a:r>
          </a:p>
          <a:p xmlns:a="http://schemas.openxmlformats.org/drawingml/2006/main">
            <a:pPr>
              <a:defRPr sz="2325" b="1">
                <a:solidFill>
                  <a:srgbClr val="14252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52C"/>
                </a:solidFill>
                <a:latin typeface="Arial"/>
                <a:ea typeface="Arial"/>
                <a:cs typeface="Arial"/>
              </a:rPr>
              <a:t>89,1 / 9,9 / 1%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C18C02-5C69-4D6D-83B0-00015E44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772150"/>
            <a:ext cx="41814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C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6C73"/>
                </a:solidFill>
                <a:latin typeface="Arial"/>
                <a:ea typeface="Arial"/>
                <a:cs typeface="Arial"/>
              </a:rPr>
              <a:t>Не промышленный эксперимент.</a:t>
            </a:r>
          </a:p>
        </p:txBody>
      </p:sp>
    </p:spTree>
    <p:extLst>
      <p:ext uri="{BB962C8B-B14F-4D97-AF65-F5344CB8AC3E}">
        <p14:creationId xmlns:p14="http://schemas.microsoft.com/office/powerpoint/2010/main" val="4204270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E2EA7-8B10-45C4-AD0E-397DFBA2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МОДЕЛЬНАЯ ДЕМОНСТРАЦИЯ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ACBFAC-23AD-4B6B-A827-4DB636DD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52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52C"/>
                </a:solidFill>
                <a:latin typeface="Arial"/>
                <a:ea typeface="Arial"/>
                <a:cs typeface="Arial"/>
              </a:rPr>
              <a:t>Шесть сценариев проверяют разные исходы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C0A73C-32DA-4A8B-BDB9-FC3E81DD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86C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C73"/>
                </a:solidFill>
                <a:latin typeface="Arial"/>
                <a:ea typeface="Arial"/>
                <a:cs typeface="Arial"/>
              </a:rPr>
              <a:t>НЕФТЕКОД 2.0  /  СИСТЕМА ПОДДЕРЖКИ РЕШЕНИЙ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D7592-4C9D-40DA-8563-531DE79B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410325"/>
            <a:ext cx="523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86150"/>
                <a:gridCol w="2343150"/>
                <a:gridCol w="5143500"/>
              </a:tblGrid>
              <a:tr h="593271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Сценарий</a:t>
                      </a:r>
                    </a:p>
                  </a:txBody>
                  <a:tcPr marL="133350" marR="133350" marT="123825" marB="95250">
                    <a:solidFill>
                      <a:srgbClr val="1425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133350" marR="133350" marT="123825" marB="95250">
                    <a:solidFill>
                      <a:srgbClr val="1425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проверяется</a:t>
                      </a:r>
                    </a:p>
                  </a:txBody>
                  <a:tcPr marL="133350" marR="133350" marT="123825" marB="95250">
                    <a:solidFill>
                      <a:srgbClr val="14252C"/>
                    </a:solidFill>
                  </a:tcPr>
                </a:tc>
              </a:tr>
              <a:tr h="59327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Нормальный режим</a:t>
                      </a:r>
                    </a:p>
                  </a:txBody>
                  <a:tcPr marL="133350" marR="133350" marT="123825" marB="95250">
                    <a:solidFill>
                      <a:srgbClr val="E5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Сохранить</a:t>
                      </a:r>
                    </a:p>
                  </a:txBody>
                  <a:tcPr marL="133350" marR="133350" marT="123825" marB="95250">
                    <a:solidFill>
                      <a:srgbClr val="E5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Не менять допустимую рецептуру</a:t>
                      </a:r>
                    </a:p>
                  </a:txBody>
                  <a:tcPr marL="133350" marR="133350" marT="123825" marB="95250">
                    <a:solidFill>
                      <a:srgbClr val="E5EBE7"/>
                    </a:solidFill>
                  </a:tcPr>
                </a:tc>
              </a:tr>
              <a:tr h="59327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Риск серы</a:t>
                      </a:r>
                    </a:p>
                  </a:txBody>
                  <a:tcPr marL="133350" marR="133350" marT="123825" marB="95250"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Рекомендовать</a:t>
                      </a:r>
                    </a:p>
                  </a:txBody>
                  <a:tcPr marL="133350" marR="133350" marT="123825" marB="95250"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Сера ≤ 10 мг/кг</a:t>
                      </a:r>
                    </a:p>
                  </a:txBody>
                  <a:tcPr marL="133350" marR="133350" marT="123825" marB="95250">
                    <a:solidFill>
                      <a:srgbClr val="F2F3EF"/>
                    </a:solidFill>
                  </a:tcPr>
                </a:tc>
              </a:tr>
              <a:tr h="59327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Риск T95</a:t>
                      </a:r>
                    </a:p>
                  </a:txBody>
                  <a:tcPr marL="133350" marR="133350" marT="123825" marB="95250">
                    <a:solidFill>
                      <a:srgbClr val="E5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Рекомендовать</a:t>
                      </a:r>
                    </a:p>
                  </a:txBody>
                  <a:tcPr marL="133350" marR="133350" marT="123825" marB="95250">
                    <a:solidFill>
                      <a:srgbClr val="E5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T95 ≤ 360 °C</a:t>
                      </a:r>
                    </a:p>
                  </a:txBody>
                  <a:tcPr marL="133350" marR="133350" marT="123825" marB="95250">
                    <a:solidFill>
                      <a:srgbClr val="E5EBE7"/>
                    </a:solidFill>
                  </a:tcPr>
                </a:tc>
              </a:tr>
              <a:tr h="59327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Низкое цетановое число</a:t>
                      </a:r>
                    </a:p>
                  </a:txBody>
                  <a:tcPr marL="133350" marR="133350" marT="123825" marB="95250"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Рекомендовать</a:t>
                      </a:r>
                    </a:p>
                  </a:txBody>
                  <a:tcPr marL="133350" marR="133350" marT="123825" marB="95250"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CN ≥ 51</a:t>
                      </a:r>
                    </a:p>
                  </a:txBody>
                  <a:tcPr marL="133350" marR="133350" marT="123825" marB="95250">
                    <a:solidFill>
                      <a:srgbClr val="F2F3EF"/>
                    </a:solidFill>
                  </a:tcPr>
                </a:tc>
              </a:tr>
              <a:tr h="59327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Недостающие данные</a:t>
                      </a:r>
                    </a:p>
                  </a:txBody>
                  <a:tcPr marL="133350" marR="133350" marT="123825" marB="95250">
                    <a:solidFill>
                      <a:srgbClr val="E5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Отказаться</a:t>
                      </a:r>
                    </a:p>
                  </a:txBody>
                  <a:tcPr marL="133350" marR="133350" marT="123825" marB="95250">
                    <a:solidFill>
                      <a:srgbClr val="E5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Неизвестное не равно нулю</a:t>
                      </a:r>
                    </a:p>
                  </a:txBody>
                  <a:tcPr marL="133350" marR="133350" marT="123825" marB="95250">
                    <a:solidFill>
                      <a:srgbClr val="E5EBE7"/>
                    </a:solidFill>
                  </a:tcPr>
                </a:tc>
              </a:tr>
              <a:tr h="59327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Риск и стоимость</a:t>
                      </a:r>
                    </a:p>
                  </a:txBody>
                  <a:tcPr marL="133350" marR="133350" marT="123825" marB="95250"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Рекомендовать</a:t>
                      </a:r>
                    </a:p>
                  </a:txBody>
                  <a:tcPr marL="133350" marR="133350" marT="123825" marB="95250"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Конфликт двух критериев</a:t>
                      </a:r>
                    </a:p>
                  </a:txBody>
                  <a:tcPr marL="133350" marR="133350" marT="123825" marB="95250">
                    <a:solidFill>
                      <a:srgbClr val="F2F3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59208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16568-B2DD-49FD-A342-9699EF30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КОНФЛИКТ КРИТЕРИЕВ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75AFD-D248-4EE7-A2B0-D5399DE8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52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52C"/>
                </a:solidFill>
                <a:latin typeface="Arial"/>
                <a:ea typeface="Arial"/>
                <a:cs typeface="Arial"/>
              </a:rPr>
              <a:t>Меньший риск может стоить дороже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DAE9F8-B277-45C2-839D-DCA503F1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86C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C73"/>
                </a:solidFill>
                <a:latin typeface="Arial"/>
                <a:ea typeface="Arial"/>
                <a:cs typeface="Arial"/>
              </a:rPr>
              <a:t>НЕФТЕКОД 2.0  /  СИСТЕМА ПОДДЕРЖКИ РЕШЕНИЙ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12A8C-0130-4D34-9438-47A5439A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410325"/>
            <a:ext cx="523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728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53050"/>
                <a:gridCol w="2762250"/>
                <a:gridCol w="2857500"/>
              </a:tblGrid>
              <a:tr h="70008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Показатель</a:t>
                      </a:r>
                    </a:p>
                  </a:txBody>
                  <a:tcPr marL="133350" marR="133350" marT="123825" marB="95250">
                    <a:solidFill>
                      <a:srgbClr val="1425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Исходно</a:t>
                      </a:r>
                    </a:p>
                  </a:txBody>
                  <a:tcPr marL="133350" marR="133350" marT="123825" marB="95250">
                    <a:solidFill>
                      <a:srgbClr val="1425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Выбрано</a:t>
                      </a:r>
                    </a:p>
                  </a:txBody>
                  <a:tcPr marL="133350" marR="133350" marT="123825" marB="95250">
                    <a:solidFill>
                      <a:srgbClr val="14252C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Модельный риск</a:t>
                      </a:r>
                    </a:p>
                  </a:txBody>
                  <a:tcPr marL="133350" marR="133350" marT="123825" marB="95250">
                    <a:solidFill>
                      <a:srgbClr val="E5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0,80</a:t>
                      </a:r>
                    </a:p>
                  </a:txBody>
                  <a:tcPr marL="133350" marR="133350" marT="123825" marB="95250">
                    <a:solidFill>
                      <a:srgbClr val="E5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0,73</a:t>
                      </a:r>
                    </a:p>
                  </a:txBody>
                  <a:tcPr marL="133350" marR="133350" marT="123825" marB="95250">
                    <a:solidFill>
                      <a:srgbClr val="E5EBE7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Стоимостной прокси</a:t>
                      </a:r>
                    </a:p>
                  </a:txBody>
                  <a:tcPr marL="133350" marR="133350" marT="123825" marB="95250"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1,9900</a:t>
                      </a:r>
                    </a:p>
                  </a:txBody>
                  <a:tcPr marL="133350" marR="133350" marT="123825" marB="95250"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2,0395</a:t>
                      </a:r>
                    </a:p>
                  </a:txBody>
                  <a:tcPr marL="133350" marR="133350" marT="123825" marB="95250">
                    <a:solidFill>
                      <a:srgbClr val="F2F3EF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Жёсткие ограничения</a:t>
                      </a:r>
                    </a:p>
                  </a:txBody>
                  <a:tcPr marL="133350" marR="133350" marT="123825" marB="95250">
                    <a:solidFill>
                      <a:srgbClr val="E5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Выполнены</a:t>
                      </a:r>
                    </a:p>
                  </a:txBody>
                  <a:tcPr marL="133350" marR="133350" marT="123825" marB="95250">
                    <a:solidFill>
                      <a:srgbClr val="E5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Выполнены</a:t>
                      </a:r>
                    </a:p>
                  </a:txBody>
                  <a:tcPr marL="133350" marR="133350" marT="123825" marB="95250">
                    <a:solidFill>
                      <a:srgbClr val="E5EBE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4E336-6BB2-4BA3-8774-EFF0CD21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Снижение риска имеет приоритет перед стоимостью.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E2B6E-D142-471C-855A-E78A327C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06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C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C73"/>
                </a:solidFill>
                <a:latin typeface="Arial"/>
                <a:ea typeface="Arial"/>
                <a:cs typeface="Arial"/>
              </a:rPr>
              <a:t>Выпуск фиксирован: 100 т. Промышленная экономия не заявляется.</a:t>
            </a:r>
          </a:p>
        </p:txBody>
      </p:sp>
    </p:spTree>
    <p:extLst>
      <p:ext uri="{BB962C8B-B14F-4D97-AF65-F5344CB8AC3E}">
        <p14:creationId xmlns:p14="http://schemas.microsoft.com/office/powerpoint/2010/main" val="15423508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53B8E-6633-4EC4-8E8F-F2F0737D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РЕАЛЬНЫЕ ДАННЫЕ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F6B7E-187A-4662-8B2E-44CB100D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52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52C"/>
                </a:solidFill>
                <a:latin typeface="Arial"/>
                <a:ea typeface="Arial"/>
                <a:cs typeface="Arial"/>
              </a:rPr>
              <a:t>Исторический прогноз: точка и верхняя оценка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1507B-29D8-4F66-8CB6-6D8645F7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86C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C73"/>
                </a:solidFill>
                <a:latin typeface="Arial"/>
                <a:ea typeface="Arial"/>
                <a:cs typeface="Arial"/>
              </a:rPr>
              <a:t>НЕФТЕКОД 2.0  /  СИСТЕМА ПОДДЕРЖКИ РЕШЕНИЙ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B645A-F958-4446-8CD3-081B98BA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410325"/>
            <a:ext cx="523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085975"/>
          <a:ext xmlns:a="http://schemas.openxmlformats.org/drawingml/2006/main" cx="1097280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91025"/>
                <a:gridCol w="3143250"/>
                <a:gridCol w="3438525"/>
              </a:tblGrid>
              <a:tr h="7778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Момент данных, Москва</a:t>
                      </a:r>
                    </a:p>
                  </a:txBody>
                  <a:tcPr marL="133350" marR="133350" marT="123825" marB="95250">
                    <a:solidFill>
                      <a:srgbClr val="1425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Точка, мг/кг</a:t>
                      </a:r>
                    </a:p>
                  </a:txBody>
                  <a:tcPr marL="133350" marR="133350" marT="123825" marB="95250">
                    <a:solidFill>
                      <a:srgbClr val="1425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Верхняя, мг/кг</a:t>
                      </a:r>
                    </a:p>
                  </a:txBody>
                  <a:tcPr marL="133350" marR="133350" marT="123825" marB="95250">
                    <a:solidFill>
                      <a:srgbClr val="14252C"/>
                    </a:solidFill>
                  </a:tcPr>
                </a:tc>
              </a:tr>
              <a:tr h="7778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12:00</a:t>
                      </a:r>
                    </a:p>
                  </a:txBody>
                  <a:tcPr marL="133350" marR="133350" marT="123825" marB="95250">
                    <a:solidFill>
                      <a:srgbClr val="E5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10,15656</a:t>
                      </a:r>
                    </a:p>
                  </a:txBody>
                  <a:tcPr marL="133350" marR="133350" marT="123825" marB="95250">
                    <a:solidFill>
                      <a:srgbClr val="E5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10,38809</a:t>
                      </a:r>
                    </a:p>
                  </a:txBody>
                  <a:tcPr marL="133350" marR="133350" marT="123825" marB="95250">
                    <a:solidFill>
                      <a:srgbClr val="E5EBE7"/>
                    </a:solidFill>
                  </a:tcPr>
                </a:tc>
              </a:tr>
              <a:tr h="7778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13:00</a:t>
                      </a:r>
                    </a:p>
                  </a:txBody>
                  <a:tcPr marL="133350" marR="133350" marT="123825" marB="95250"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9,00645</a:t>
                      </a:r>
                    </a:p>
                  </a:txBody>
                  <a:tcPr marL="133350" marR="133350" marT="123825" marB="95250"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10,27399</a:t>
                      </a:r>
                    </a:p>
                  </a:txBody>
                  <a:tcPr marL="133350" marR="133350" marT="123825" marB="95250">
                    <a:solidFill>
                      <a:srgbClr val="F2F3E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90C96-04D4-4978-9574-4AB95E54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Прогноз не разрешает менять уставки.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8E0540-8BF0-4817-AEFE-8F1B419B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15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86C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86C73"/>
                </a:solidFill>
                <a:latin typeface="Arial"/>
                <a:ea typeface="Arial"/>
                <a:cs typeface="Arial"/>
              </a:rPr>
              <a:t>Целевое время на графике: момент данных + 60 минут.</a:t>
            </a:r>
          </a:p>
        </p:txBody>
      </p:sp>
    </p:spTree>
    <p:extLst>
      <p:ext uri="{BB962C8B-B14F-4D97-AF65-F5344CB8AC3E}">
        <p14:creationId xmlns:p14="http://schemas.microsoft.com/office/powerpoint/2010/main" val="21167433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E2827-4470-46E9-B5DE-BD76E8EB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ML • ОТЛОЖЕННЫЙ 2026 ГОД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D37282-517E-44AE-92E8-DFC33C19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52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52C"/>
                </a:solidFill>
                <a:latin typeface="Arial"/>
                <a:ea typeface="Arial"/>
                <a:cs typeface="Arial"/>
              </a:rPr>
              <a:t>Независимый test: результат без приукрашивания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CC62E9-95E8-4A81-9BCC-C106C522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86C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C73"/>
                </a:solidFill>
                <a:latin typeface="Arial"/>
                <a:ea typeface="Arial"/>
                <a:cs typeface="Arial"/>
              </a:rPr>
              <a:t>НЕФТЕКОД 2.0  /  СИСТЕМА ПОДДЕРЖКИ РЕШЕНИЙ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CD151-2B56-4E40-BFC9-12777FEF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410325"/>
            <a:ext cx="523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152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239000"/>
                <a:gridCol w="3733800"/>
              </a:tblGrid>
              <a:tr h="63055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Показатель</a:t>
                      </a:r>
                    </a:p>
                  </a:txBody>
                  <a:tcPr marL="133350" marR="133350" marT="123825" marB="95250">
                    <a:solidFill>
                      <a:srgbClr val="1425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133350" marR="133350" marT="123825" marB="95250">
                    <a:solidFill>
                      <a:srgbClr val="14252C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Сопоставимые валидные цели ПАК</a:t>
                      </a:r>
                    </a:p>
                  </a:txBody>
                  <a:tcPr marL="133350" marR="133350" marT="123825" marB="95250">
                    <a:solidFill>
                      <a:srgbClr val="E5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31 819</a:t>
                      </a:r>
                    </a:p>
                  </a:txBody>
                  <a:tcPr marL="133350" marR="133350" marT="123825" marB="95250">
                    <a:solidFill>
                      <a:srgbClr val="E5EBE7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MAE модели / persistence baseline</a:t>
                      </a:r>
                    </a:p>
                  </a:txBody>
                  <a:tcPr marL="133350" marR="133350" marT="123825" marB="95250"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0,6842 / 0,6842 мг/кг</a:t>
                      </a:r>
                    </a:p>
                  </a:txBody>
                  <a:tcPr marL="133350" marR="133350" marT="123825" marB="95250">
                    <a:solidFill>
                      <a:srgbClr val="F2F3EF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MAE вблизи порога 8–12 мг/кг</a:t>
                      </a:r>
                    </a:p>
                  </a:txBody>
                  <a:tcPr marL="133350" marR="133350" marT="123825" marB="95250">
                    <a:solidFill>
                      <a:srgbClr val="E5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0,7899 мг/кг</a:t>
                      </a:r>
                    </a:p>
                  </a:txBody>
                  <a:tcPr marL="133350" marR="133350" marT="123825" marB="95250">
                    <a:solidFill>
                      <a:srgbClr val="E5EBE7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Пропуски превышений точечного прогноза</a:t>
                      </a:r>
                    </a:p>
                  </a:txBody>
                  <a:tcPr marL="133350" marR="133350" marT="123825" marB="95250"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2C"/>
                          </a:solidFill>
                          <a:latin typeface="Arial"/>
                          <a:ea typeface="Arial"/>
                          <a:cs typeface="Arial"/>
                        </a:rPr>
                        <a:t>1 345 / 4 706 = 28,58%</a:t>
                      </a:r>
                    </a:p>
                  </a:txBody>
                  <a:tcPr marL="133350" marR="133350" marT="123825" marB="95250">
                    <a:solidFill>
                      <a:srgbClr val="F2F3E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87381-06A4-43A4-B942-84D67A8B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Точечный прогноз не превосходит baseline.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DF534-A536-460C-862D-E1F2CCD5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C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86C73"/>
                </a:solidFill>
                <a:latin typeface="Arial"/>
                <a:ea typeface="Arial"/>
                <a:cs typeface="Arial"/>
              </a:rPr>
              <a:t>Пороговые ошибки не являются оценкой upper-политики или v2.</a:t>
            </a:r>
          </a:p>
        </p:txBody>
      </p:sp>
    </p:spTree>
    <p:extLst>
      <p:ext uri="{BB962C8B-B14F-4D97-AF65-F5344CB8AC3E}">
        <p14:creationId xmlns:p14="http://schemas.microsoft.com/office/powerpoint/2010/main" val="1974672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6F186D-8E6F-4D3A-94F8-6B13DA77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ПРИМЕНИМОСТЬ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8D290-5350-4C63-B455-209408FA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52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52C"/>
                </a:solidFill>
                <a:latin typeface="Arial"/>
                <a:ea typeface="Arial"/>
                <a:cs typeface="Arial"/>
              </a:rPr>
              <a:t>Дополнительные режимы подписаны по назначению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D1F7F-8703-4E32-A2F3-B4811D00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86C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C73"/>
                </a:solidFill>
                <a:latin typeface="Arial"/>
                <a:ea typeface="Arial"/>
                <a:cs typeface="Arial"/>
              </a:rPr>
              <a:t>НЕФТЕКОД 2.0  /  СИСТЕМА ПОДДЕРЖКИ РЕШЕНИЙ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0D954-2DD1-4230-83F0-CCB2A663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410325"/>
            <a:ext cx="523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E2D33-CC82-4B09-A515-55442026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007F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C40C7-FD52-46A0-8072-720A69B2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57400"/>
            <a:ext cx="1015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5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52C"/>
                </a:solidFill>
                <a:latin typeface="Arial"/>
                <a:ea typeface="Arial"/>
                <a:cs typeface="Arial"/>
              </a:rPr>
              <a:t>Hybrid: условное смешение по сере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697DB-CBF4-46D5-B61D-F213DA6A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24125"/>
            <a:ext cx="10058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C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C73"/>
                </a:solidFill>
                <a:latin typeface="Arial"/>
                <a:ea typeface="Arial"/>
                <a:cs typeface="Arial"/>
              </a:rPr>
              <a:t>Не заменяет полный паспорт качества товарной смеси.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34194-ED1B-4FD4-9D36-D947B87F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007F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466676-7D8F-4186-9152-1B381CDA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1015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5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52C"/>
                </a:solidFill>
                <a:latin typeface="Arial"/>
                <a:ea typeface="Arial"/>
                <a:cs typeface="Arial"/>
              </a:rPr>
              <a:t>v2: исследовательский риск эпизода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941B0-D40F-41CC-A58C-E11DD6A2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14775"/>
            <a:ext cx="10058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C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C73"/>
                </a:solidFill>
                <a:latin typeface="Arial"/>
                <a:ea typeface="Arial"/>
                <a:cs typeface="Arial"/>
              </a:rPr>
              <a:t>Горизонты 10, 20, 30 и 60 минут; только shadow-наблюдение.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FDDD9-EB94-4B25-832E-7633ECD3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007F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3539C7-B98D-4747-A6C0-6A1BBBBF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38700"/>
            <a:ext cx="1015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5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52C"/>
                </a:solidFill>
                <a:latin typeface="Arial"/>
                <a:ea typeface="Arial"/>
                <a:cs typeface="Arial"/>
              </a:rPr>
              <a:t>Исследование P8 / F19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9A2F71-87C5-451A-8F75-4B530A5D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05425"/>
            <a:ext cx="10058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C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C73"/>
                </a:solidFill>
                <a:latin typeface="Arial"/>
                <a:ea typeface="Arial"/>
                <a:cs typeface="Arial"/>
              </a:rPr>
              <a:t>Не входит в штатный контур реальных управляющих действий.</a:t>
            </a:r>
          </a:p>
        </p:txBody>
      </p:sp>
    </p:spTree>
    <p:extLst>
      <p:ext uri="{BB962C8B-B14F-4D97-AF65-F5344CB8AC3E}">
        <p14:creationId xmlns:p14="http://schemas.microsoft.com/office/powerpoint/2010/main" val="3960245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8E7F27-D68D-4D7C-80FF-88C083A5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ПОСТАВКА ДЛЯ ЖЮРИ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E1CA1-FD1C-4AA6-A0BC-183E6487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52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52C"/>
                </a:solidFill>
                <a:latin typeface="Arial"/>
                <a:ea typeface="Arial"/>
                <a:cs typeface="Arial"/>
              </a:rPr>
              <a:t>Распаковать. Запустить. Воспроизвести.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ECA95-7A1D-497A-9308-D0EA5296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86C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C73"/>
                </a:solidFill>
                <a:latin typeface="Arial"/>
                <a:ea typeface="Arial"/>
                <a:cs typeface="Arial"/>
              </a:rPr>
              <a:t>НЕФТЕКОД 2.0  /  СИСТЕМА ПОДДЕРЖКИ РЕШЕНИЙ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B2741-2D8C-4CDB-B601-6FB369BE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410325"/>
            <a:ext cx="523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70722-AF3C-4CDE-A426-DF764F17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007F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14B3E-D381-4AFD-AB53-4E5C40C2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57400"/>
            <a:ext cx="1015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5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52C"/>
                </a:solidFill>
                <a:latin typeface="Arial"/>
                <a:ea typeface="Arial"/>
                <a:cs typeface="Arial"/>
              </a:rPr>
              <a:t>Neftekod.exe + автономное окружение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D1BEA-A5F5-44AD-BB0D-3AC8C3EA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24125"/>
            <a:ext cx="10058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C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C73"/>
                </a:solidFill>
                <a:latin typeface="Arial"/>
                <a:ea typeface="Arial"/>
                <a:cs typeface="Arial"/>
              </a:rPr>
              <a:t>Windows x64; интернет, установка Python и обучение не нужны.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5EE9C-6B31-4958-B59F-85F38F13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007F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58D852-9A2B-4A54-ADA3-C7F1C0DD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1015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5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52C"/>
                </a:solidFill>
                <a:latin typeface="Arial"/>
                <a:ea typeface="Arial"/>
                <a:cs typeface="Arial"/>
              </a:rPr>
              <a:t>Код, данные и модели в одном комплекте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FD0296-A53F-41F4-81FD-6E18392F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14775"/>
            <a:ext cx="10058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C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C73"/>
                </a:solidFill>
                <a:latin typeface="Arial"/>
                <a:ea typeface="Arial"/>
                <a:cs typeface="Arial"/>
              </a:rPr>
              <a:t>Закреплённые версии, журналы и контрольные суммы SHA-256.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46AA9D-657C-4881-9E02-BF5EA22D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007F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C6F5AF-FA48-4216-B0C2-86118631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38700"/>
            <a:ext cx="1015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5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52C"/>
                </a:solidFill>
                <a:latin typeface="Arial"/>
                <a:ea typeface="Arial"/>
                <a:cs typeface="Arial"/>
              </a:rPr>
              <a:t>Презентация, документ и сценарий показа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263E8B-9C94-41BE-8021-A3F553B6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05425"/>
            <a:ext cx="10058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C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C73"/>
                </a:solidFill>
                <a:latin typeface="Arial"/>
                <a:ea typeface="Arial"/>
                <a:cs typeface="Arial"/>
              </a:rPr>
              <a:t>Те же режимы, числа и ограничения, что в приложении.</a:t>
            </a:r>
          </a:p>
        </p:txBody>
      </p:sp>
    </p:spTree>
    <p:extLst>
      <p:ext uri="{BB962C8B-B14F-4D97-AF65-F5344CB8AC3E}">
        <p14:creationId xmlns:p14="http://schemas.microsoft.com/office/powerpoint/2010/main" val="15137847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C1512A-CB9E-48CA-A8F0-4E03EEAE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НОВОЕ В v1.1.0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AA190-08CD-4CB4-B8BD-4B44D1EB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52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52C"/>
                </a:solidFill>
                <a:latin typeface="Arial"/>
                <a:ea typeface="Arial"/>
                <a:cs typeface="Arial"/>
              </a:rPr>
              <a:t>Синтетический what-if для живого показа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75C66-F24C-4FDA-8307-21427D77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86C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C73"/>
                </a:solidFill>
                <a:latin typeface="Arial"/>
                <a:ea typeface="Arial"/>
                <a:cs typeface="Arial"/>
              </a:rPr>
              <a:t>НЕФТЕКОД 2.0  /  СИСТЕМА ПОДДЕРЖКИ РЕШЕНИЙ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20AA3-58A5-4FBB-87DC-D4ED6BDF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410325"/>
            <a:ext cx="523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efcdb083f4924"/>
          <a:stretch xmlns:a="http://schemas.openxmlformats.org/drawingml/2006/main"/>
        </p:blipFill>
        <p:spPr>
          <a:xfrm xmlns:a="http://schemas.openxmlformats.org/drawingml/2006/main">
            <a:off x="1833332" y="1809750"/>
            <a:ext cx="3219910" cy="44958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28E48-488F-4ED1-B9ED-7F08E9CB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52650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1. Открыть редактор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D2109-29B0-4619-A057-5C2C0678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95575"/>
            <a:ext cx="4667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5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52C"/>
                </a:solidFill>
                <a:latin typeface="Arial"/>
                <a:ea typeface="Arial"/>
                <a:cs typeface="Arial"/>
              </a:rPr>
              <a:t>«Обзор» или «Смесь» →</a:t>
            </a:r>
          </a:p>
          <a:p xmlns:a="http://schemas.openxmlformats.org/drawingml/2006/main">
            <a:pPr>
              <a:defRPr sz="2025" b="0">
                <a:solidFill>
                  <a:srgbClr val="1425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52C"/>
                </a:solidFill>
                <a:latin typeface="Arial"/>
                <a:ea typeface="Arial"/>
                <a:cs typeface="Arial"/>
              </a:rPr>
              <a:t>«Синтетический what-if»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6ACCD-EFFC-470B-B867-4CD84983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909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2. Изменить и пересчитать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9DE5E-DD77-4E68-B049-146C1437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33875"/>
            <a:ext cx="466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5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52C"/>
                </a:solidFill>
                <a:latin typeface="Arial"/>
                <a:ea typeface="Arial"/>
                <a:cs typeface="Arial"/>
              </a:rPr>
              <a:t>Свойства, запасы, доли,</a:t>
            </a:r>
          </a:p>
          <a:p xmlns:a="http://schemas.openxmlformats.org/drawingml/2006/main">
            <a:pPr>
              <a:defRPr sz="2025" b="0">
                <a:solidFill>
                  <a:srgbClr val="1425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52C"/>
                </a:solidFill>
                <a:latin typeface="Arial"/>
                <a:ea typeface="Arial"/>
                <a:cs typeface="Arial"/>
              </a:rPr>
              <a:t>партия и эффект присадки.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C3F9A-656D-40BC-8340-077C5926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19725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3. Сбросить к сценарию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8B54F7-413F-4B67-9D5F-B6591C15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9055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C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C73"/>
                </a:solidFill>
                <a:latin typeface="Arial"/>
                <a:ea typeface="Arial"/>
                <a:cs typeface="Arial"/>
              </a:rPr>
              <a:t>Затем снова нажать пересчёт.</a:t>
            </a:r>
          </a:p>
        </p:txBody>
      </p:sp>
    </p:spTree>
    <p:extLst>
      <p:ext uri="{BB962C8B-B14F-4D97-AF65-F5344CB8AC3E}">
        <p14:creationId xmlns:p14="http://schemas.microsoft.com/office/powerpoint/2010/main" val="11837959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2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5676C3-AB63-4D0C-A97D-018459C8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НОВОЕ В v1.1.0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ED077-42F9-4C54-8A8D-97AC1133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52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52C"/>
                </a:solidFill>
                <a:latin typeface="Arial"/>
                <a:ea typeface="Arial"/>
                <a:cs typeface="Arial"/>
              </a:rPr>
              <a:t>Исторический прогноз на графике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590C7-0B60-46D8-A5D8-1CB23AED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86C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C73"/>
                </a:solidFill>
                <a:latin typeface="Arial"/>
                <a:ea typeface="Arial"/>
                <a:cs typeface="Arial"/>
              </a:rPr>
              <a:t>НЕФТЕКОД 2.0  /  СИСТЕМА ПОДДЕРЖКИ РЕШЕНИЙ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AC05E-9910-45AB-836E-50437D4B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410325"/>
            <a:ext cx="523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d58a9bb51d4d43"/>
          <a:stretch xmlns:a="http://schemas.openxmlformats.org/drawingml/2006/main"/>
        </p:blipFill>
        <p:spPr>
          <a:xfrm xmlns:a="http://schemas.openxmlformats.org/drawingml/2006/main">
            <a:off x="645288" y="1876425"/>
            <a:ext cx="7215249" cy="44005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3F623-0F1B-4B95-BFC4-CC624F97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238375"/>
            <a:ext cx="333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Выбрать период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8DBB6-4779-43C0-B308-29D3CE21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886075"/>
            <a:ext cx="333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5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52C"/>
                </a:solidFill>
                <a:latin typeface="Arial"/>
                <a:ea typeface="Arial"/>
                <a:cs typeface="Arial"/>
              </a:rPr>
              <a:t>Прогноз, верхняя</a:t>
            </a:r>
          </a:p>
          <a:p xmlns:a="http://schemas.openxmlformats.org/drawingml/2006/main">
            <a:pPr>
              <a:defRPr sz="2100" b="0">
                <a:solidFill>
                  <a:srgbClr val="1425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52C"/>
                </a:solidFill>
                <a:latin typeface="Arial"/>
                <a:ea typeface="Arial"/>
                <a:cs typeface="Arial"/>
              </a:rPr>
              <a:t>оценка и предел</a:t>
            </a:r>
          </a:p>
          <a:p xmlns:a="http://schemas.openxmlformats.org/drawingml/2006/main">
            <a:pPr>
              <a:defRPr sz="2100" b="0">
                <a:solidFill>
                  <a:srgbClr val="1425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52C"/>
                </a:solidFill>
                <a:latin typeface="Arial"/>
                <a:ea typeface="Arial"/>
                <a:cs typeface="Arial"/>
              </a:rPr>
              <a:t>10 мг/кг.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093FF-E1A5-438C-B427-BE9BFD76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476750"/>
            <a:ext cx="333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86C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C73"/>
                </a:solidFill>
                <a:latin typeface="Arial"/>
                <a:ea typeface="Arial"/>
                <a:cs typeface="Arial"/>
              </a:rPr>
              <a:t>Пути данных и модели</a:t>
            </a:r>
          </a:p>
          <a:p xmlns:a="http://schemas.openxmlformats.org/drawingml/2006/main">
            <a:pPr>
              <a:defRPr sz="1950" b="0">
                <a:solidFill>
                  <a:srgbClr val="586C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C73"/>
                </a:solidFill>
                <a:latin typeface="Arial"/>
                <a:ea typeface="Arial"/>
                <a:cs typeface="Arial"/>
              </a:rPr>
              <a:t>в дополнительных</a:t>
            </a:r>
          </a:p>
          <a:p xmlns:a="http://schemas.openxmlformats.org/drawingml/2006/main">
            <a:pPr>
              <a:defRPr sz="1950" b="0">
                <a:solidFill>
                  <a:srgbClr val="586C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C73"/>
                </a:solidFill>
                <a:latin typeface="Arial"/>
                <a:ea typeface="Arial"/>
                <a:cs typeface="Arial"/>
              </a:rPr>
              <a:t>настройках.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163A1A-22FA-48AB-B58D-956EF327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8293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C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6C73"/>
                </a:solidFill>
                <a:latin typeface="Arial"/>
                <a:ea typeface="Arial"/>
                <a:cs typeface="Arial"/>
              </a:rPr>
              <a:t>Без реального управления.</a:t>
            </a:r>
          </a:p>
        </p:txBody>
      </p:sp>
    </p:spTree>
    <p:extLst>
      <p:ext uri="{BB962C8B-B14F-4D97-AF65-F5344CB8AC3E}">
        <p14:creationId xmlns:p14="http://schemas.microsoft.com/office/powerpoint/2010/main" val="7490607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8DD1B4-958E-43EA-831B-BF88C6B6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2D8C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2D8C7"/>
                </a:solidFill>
                <a:latin typeface="Arial"/>
                <a:ea typeface="Arial"/>
                <a:cs typeface="Arial"/>
              </a:rPr>
              <a:t>ИТОГ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6CECD-74AA-4583-A3B3-16C20A3D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Проверяемый прототип поддержки решений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F52DC-FF1C-4B94-B8AB-0913C302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3A9B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3A9B1"/>
                </a:solidFill>
                <a:latin typeface="Arial"/>
                <a:ea typeface="Arial"/>
                <a:cs typeface="Arial"/>
              </a:rPr>
              <a:t>НЕФТЕКОД 2.0  /  СИСТЕМА ПОДДЕРЖКИ РЕШЕНИЙ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C4DA0-9537-48BA-A8E0-208DE51F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410325"/>
            <a:ext cx="523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2D8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2D8C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9EA80-8249-46F1-8531-BB917AC7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85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Данные → прогноз → проверка → объяснение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0724A-6972-400E-98E6-199DB483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2D8C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2D8C7"/>
                </a:solidFill>
                <a:latin typeface="Arial"/>
                <a:ea typeface="Arial"/>
                <a:cs typeface="Arial"/>
              </a:rPr>
              <a:t>Что показываем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9D5C5-8431-4219-91A1-46F75CE5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54768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Рецептуры, ограничения, исторический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риск и воспроизводимый журнал.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8BDA6-614D-4B66-B851-3BB2209D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84810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3BA6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3BA68"/>
                </a:solidFill>
                <a:latin typeface="Arial"/>
                <a:ea typeface="Arial"/>
                <a:cs typeface="Arial"/>
              </a:rPr>
              <a:t>Чего не заявляем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2D9C1-A091-4A66-A020-ECB4143D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419600"/>
            <a:ext cx="48577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Автономное управление, причинный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эффект и промышленную экономию.</a:t>
            </a:r>
          </a:p>
        </p:txBody>
      </p:sp>
    </p:spTree>
    <p:extLst>
      <p:ext uri="{BB962C8B-B14F-4D97-AF65-F5344CB8AC3E}">
        <p14:creationId xmlns:p14="http://schemas.microsoft.com/office/powerpoint/2010/main" val="18385013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2026-09-22T09:26:53.8960000Z</dcterms:created>
  <dcterms:modified xsi:type="dcterms:W3CDTF">2026-09-22T09:26:53.8960000Z</dcterms:modified>
</coreProperties>
</file>