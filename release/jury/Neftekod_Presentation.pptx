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f72286f7c74cef" /><Relationship Type="http://schemas.openxmlformats.org/officeDocument/2006/relationships/extended-properties" Target="/docProps/app.xml" Id="Rc4672ee6db834d31" /><Relationship Type="http://schemas.openxmlformats.org/officeDocument/2006/relationships/officeDocument" Target="/ppt/presentation.xml" Id="Rdd9823780dcf49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395b6f599246c7"/>
  </p:sldMasterIdLst>
  <p:notesMasterIdLst>
    <p:notesMasterId xmlns:r="http://schemas.openxmlformats.org/officeDocument/2006/relationships" r:id="Rc7408ea3005d4401"/>
  </p:notesMasterIdLst>
  <p:sldIdLst>
    <p:sldId xmlns:r="http://schemas.openxmlformats.org/officeDocument/2006/relationships" id="256" r:id="R6185a02e20354338"/>
    <p:sldId xmlns:r="http://schemas.openxmlformats.org/officeDocument/2006/relationships" id="257" r:id="Rf02603c8f1854b83"/>
    <p:sldId xmlns:r="http://schemas.openxmlformats.org/officeDocument/2006/relationships" id="258" r:id="R7a3fdeb8f4824965"/>
    <p:sldId xmlns:r="http://schemas.openxmlformats.org/officeDocument/2006/relationships" id="259" r:id="R9c278a1f20224f28"/>
    <p:sldId xmlns:r="http://schemas.openxmlformats.org/officeDocument/2006/relationships" id="260" r:id="Rab8791de154841b2"/>
    <p:sldId xmlns:r="http://schemas.openxmlformats.org/officeDocument/2006/relationships" id="261" r:id="Rbf53de69fa9a4f57"/>
    <p:sldId xmlns:r="http://schemas.openxmlformats.org/officeDocument/2006/relationships" id="262" r:id="Rf6471f5f950643cd"/>
    <p:sldId xmlns:r="http://schemas.openxmlformats.org/officeDocument/2006/relationships" id="263" r:id="R3d3ecf14ffdc4815"/>
    <p:sldId xmlns:r="http://schemas.openxmlformats.org/officeDocument/2006/relationships" id="264" r:id="Re31dcf3c293e4a36"/>
    <p:sldId xmlns:r="http://schemas.openxmlformats.org/officeDocument/2006/relationships" id="265" r:id="R1663485984824198"/>
    <p:sldId xmlns:r="http://schemas.openxmlformats.org/officeDocument/2006/relationships" id="266" r:id="R5c851d36a2654f49"/>
    <p:sldId xmlns:r="http://schemas.openxmlformats.org/officeDocument/2006/relationships" id="267" r:id="Ra3f08ffd59ae44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5a062745574786" /><Relationship Type="http://schemas.openxmlformats.org/officeDocument/2006/relationships/slideMaster" Target="/ppt/slideMasters/slideMaster1.xml" Id="Ra8395b6f599246c7" /><Relationship Type="http://schemas.openxmlformats.org/officeDocument/2006/relationships/notesMaster" Target="/ppt/notesMasters/notesMaster1.xml" Id="Rc7408ea3005d4401" /><Relationship Type="http://schemas.openxmlformats.org/officeDocument/2006/relationships/presProps" Target="/ppt/presProps.xml" Id="Ra37b6aeeef6f4318" /><Relationship Type="http://schemas.openxmlformats.org/officeDocument/2006/relationships/tableStyles" Target="/ppt/tableStyles.xml" Id="R18bf03ccf70c44f2" /><Relationship Type="http://schemas.openxmlformats.org/officeDocument/2006/relationships/slide" Target="/ppt/slides/slide1.xml" Id="R6185a02e20354338" /><Relationship Type="http://schemas.openxmlformats.org/officeDocument/2006/relationships/slide" Target="/ppt/slides/slide2.xml" Id="Rf02603c8f1854b83" /><Relationship Type="http://schemas.openxmlformats.org/officeDocument/2006/relationships/slide" Target="/ppt/slides/slide3.xml" Id="R7a3fdeb8f4824965" /><Relationship Type="http://schemas.openxmlformats.org/officeDocument/2006/relationships/slide" Target="/ppt/slides/slide4.xml" Id="R9c278a1f20224f28" /><Relationship Type="http://schemas.openxmlformats.org/officeDocument/2006/relationships/slide" Target="/ppt/slides/slide5.xml" Id="Rab8791de154841b2" /><Relationship Type="http://schemas.openxmlformats.org/officeDocument/2006/relationships/slide" Target="/ppt/slides/slide6.xml" Id="Rbf53de69fa9a4f57" /><Relationship Type="http://schemas.openxmlformats.org/officeDocument/2006/relationships/slide" Target="/ppt/slides/slide7.xml" Id="Rf6471f5f950643cd" /><Relationship Type="http://schemas.openxmlformats.org/officeDocument/2006/relationships/slide" Target="/ppt/slides/slide8.xml" Id="R3d3ecf14ffdc4815" /><Relationship Type="http://schemas.openxmlformats.org/officeDocument/2006/relationships/slide" Target="/ppt/slides/slide9.xml" Id="Re31dcf3c293e4a36" /><Relationship Type="http://schemas.openxmlformats.org/officeDocument/2006/relationships/slide" Target="/ppt/slides/slide10.xml" Id="R1663485984824198" /><Relationship Type="http://schemas.openxmlformats.org/officeDocument/2006/relationships/slide" Target="/ppt/slides/slide11.xml" Id="R5c851d36a2654f49" /><Relationship Type="http://schemas.openxmlformats.org/officeDocument/2006/relationships/slide" Target="/ppt/slides/slide12.xml" Id="Ra3f08ffd59ae44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547cc8a20643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3cb20e34944545" /><Relationship Type="http://schemas.openxmlformats.org/officeDocument/2006/relationships/notesMaster" Target="/ppt/notesMasters/notesMaster1.xml" Id="R306cca0031cf45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4bbf49cd8e40c8" /><Relationship Type="http://schemas.openxmlformats.org/officeDocument/2006/relationships/notesMaster" Target="/ppt/notesMasters/notesMaster1.xml" Id="Rcfa37195ec704d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443e53e3da4f6b" /><Relationship Type="http://schemas.openxmlformats.org/officeDocument/2006/relationships/notesMaster" Target="/ppt/notesMasters/notesMaster1.xml" Id="R463b9a80926148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d8ebc195f64b6b" /><Relationship Type="http://schemas.openxmlformats.org/officeDocument/2006/relationships/notesMaster" Target="/ppt/notesMasters/notesMaster1.xml" Id="R6a4f6a32420a4a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31e04db61b427e" /><Relationship Type="http://schemas.openxmlformats.org/officeDocument/2006/relationships/notesMaster" Target="/ppt/notesMasters/notesMaster1.xml" Id="Ra710a411273c45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fb3681bbcc4bc6" /><Relationship Type="http://schemas.openxmlformats.org/officeDocument/2006/relationships/notesMaster" Target="/ppt/notesMasters/notesMaster1.xml" Id="R76ecc4bd34df49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639ed5a78c4590" /><Relationship Type="http://schemas.openxmlformats.org/officeDocument/2006/relationships/notesMaster" Target="/ppt/notesMasters/notesMaster1.xml" Id="Rfeb2cde7143640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a00e67a5f24525" /><Relationship Type="http://schemas.openxmlformats.org/officeDocument/2006/relationships/notesMaster" Target="/ppt/notesMasters/notesMaster1.xml" Id="Rf839aefd26684f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b85910fd5348ab" /><Relationship Type="http://schemas.openxmlformats.org/officeDocument/2006/relationships/notesMaster" Target="/ppt/notesMasters/notesMaster1.xml" Id="R510ec3612f794a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e8f58da18742f5" /><Relationship Type="http://schemas.openxmlformats.org/officeDocument/2006/relationships/notesMaster" Target="/ppt/notesMasters/notesMaster1.xml" Id="Rde57454a338a4b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4bcbd731684560" /><Relationship Type="http://schemas.openxmlformats.org/officeDocument/2006/relationships/notesMaster" Target="/ppt/notesMasters/notesMaster1.xml" Id="Rce5085c753cb4c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09dc6515fae449a" /><Relationship Type="http://schemas.openxmlformats.org/officeDocument/2006/relationships/notesMaster" Target="/ppt/notesMasters/notesMaster1.xml" Id="R1de1fb5829904c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Прототип не управляет оборудованием. Концептуальная иллюстрация не является фотографией конкретного предприятия.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Hybrid связывает прогноз серы с условной рецептурой, но не доказывает динамику всей цепочки. Реальные уставки отключены.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Поясняющий пример часов. Четырёхчасовая задержка ЛИМС — явная конфигурация. Prepared dataset содержит 189217 строк телеметрии и 301901 наблюдение качества.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D:/ML/hakneft/HackathonPetrolCode/DESIGN.md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Неизвестное значение передаётся как null, не как ноль. Недопустимый вариант не становится допустимым из-за экономической выгоды.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D:/ML/hakneft/HackathonPetrolCode/DESIGN.md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Снимок текущего приложения. Выбранный состав также проходит T95 354 °C и CN 52.6. Синтетическая модель эффекта присадки.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Пять основных acceptance-эпизодов и дополнительный regression/evidence сценарий blend_tradeoff. Все свойства и экономические индексы модельные.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blend_tradeoff: A=.891, B=.099, additive=.01. Это свидетельство работы порядка критериев, не оптимизация реальной производительности.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Dataset 66bdfcbb23b4, artifact sulfur-upper-33efba3c3141. Две точки около17с вместо62с на машине проверки, семь около48с. Это измерение, не универсальная гарантия скорости.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 не использован здесь для переобучения или выбора модели. Validation финального переобученного артефакта помечен как in_sample_diagnostic. False alarms 1345/27113=4.96%.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D:/ML/hakneft/HackathonPetrolCode/release/evidence/forecast-test/metrics.json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Фактические hybrid/v2 результаты сохранены в jury-evidence.json. LIMS correction остаётся отдельной диагностикой. supports_actions=false.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Распаковать весь архив в доступную для записи папку, не переносить EXE отдельно от _internal. EXE не подписан: соблюдать политику компьютера. При сбое startup-error.log.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D:/ML/hakneft/HackathonPetrolCode/release/README_FIRST.md</a:t>
            </a:r>
          </a:p>
          <a:p xmlns:a="http://schemas.openxmlformats.org/drawingml/2006/main">
            <a:r>
              <a:t>D:/ML/hakneft/HackathonPetrolCode/release/DEMO_SCRIPT.md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промышленного внедрения нужны инженерные диапазоны, карта потоков и задержек, валидация действий и надёжности, экономические данные. Это следующий этап, не скрытая возможность поставки.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Версия: финальная поставка 22.09.2026, dev 88e317e + рабочие изменения.</a:t>
            </a:r>
          </a:p>
          <a:p xmlns:a="http://schemas.openxmlformats.org/drawingml/2006/main">
            <a:r>
              <a:t>Источники проекта:</a:t>
            </a:r>
          </a:p>
          <a:p xmlns:a="http://schemas.openxmlformats.org/drawingml/2006/main">
            <a:r>
              <a:t>D:/ML/hakneft/HackathonPetrolCode/release/JURY_REPORT.md</a:t>
            </a:r>
          </a:p>
          <a:p xmlns:a="http://schemas.openxmlformats.org/drawingml/2006/main">
            <a:r>
              <a:t>D:/ML/hakneft/HackathonPetrolCode/release/evidence/jury-evidence.json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b73d1029434d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cb501658c7481c" /><Relationship Type="http://schemas.openxmlformats.org/officeDocument/2006/relationships/slideLayout" Target="/ppt/slideLayouts/slideLayout1.xml" Id="Rf5dc73732b7345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dc73732b7345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6d46d494a4ba5" /><Relationship Type="http://schemas.openxmlformats.org/officeDocument/2006/relationships/image" Target="/ppt/media/image.png" Id="R3a425e54378e4977" /><Relationship Type="http://schemas.openxmlformats.org/officeDocument/2006/relationships/notesSlide" Target="/ppt/notesSlides/notesSlide1.xml" Id="R3429b7c621b448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21b98dcc145eb" /><Relationship Type="http://schemas.openxmlformats.org/officeDocument/2006/relationships/notesSlide" Target="/ppt/notesSlides/notesSlide2.xml" Id="R9573bb14fcf244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12cf827f14f44" /><Relationship Type="http://schemas.openxmlformats.org/officeDocument/2006/relationships/notesSlide" Target="/ppt/notesSlides/notesSlide3.xml" Id="R8ebcab766afd4f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35546cc2f426a" /><Relationship Type="http://schemas.openxmlformats.org/officeDocument/2006/relationships/notesSlide" Target="/ppt/notesSlides/notesSlide4.xml" Id="Red83d483d59844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974bc1fa74cac" /><Relationship Type="http://schemas.openxmlformats.org/officeDocument/2006/relationships/image" Target="/ppt/media/image2.png" Id="Reebbf293291c4237" /><Relationship Type="http://schemas.openxmlformats.org/officeDocument/2006/relationships/notesSlide" Target="/ppt/notesSlides/notesSlide5.xml" Id="Re543a0c6b8a344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4fd50b17d4d91" /><Relationship Type="http://schemas.openxmlformats.org/officeDocument/2006/relationships/notesSlide" Target="/ppt/notesSlides/notesSlide6.xml" Id="R4980e831519846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e4b424f0d4b2e" /><Relationship Type="http://schemas.openxmlformats.org/officeDocument/2006/relationships/notesSlide" Target="/ppt/notesSlides/notesSlide7.xml" Id="R48757667faf54e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978fedc2a49e3" /><Relationship Type="http://schemas.openxmlformats.org/officeDocument/2006/relationships/notesSlide" Target="/ppt/notesSlides/notesSlide8.xml" Id="Red50363cce5f4d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1fcd908464993" /><Relationship Type="http://schemas.openxmlformats.org/officeDocument/2006/relationships/notesSlide" Target="/ppt/notesSlides/notesSlide9.xml" Id="Rcf6531d5c0e945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0c2bbd795442c" /><Relationship Type="http://schemas.openxmlformats.org/officeDocument/2006/relationships/notesSlide" Target="/ppt/notesSlides/notesSlide10.xml" Id="R336d13b8bb034a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667404abe4e13" /><Relationship Type="http://schemas.openxmlformats.org/officeDocument/2006/relationships/notesSlide" Target="/ppt/notesSlides/notesSlide11.xml" Id="Ree245044a3d24d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9abf1f0744791" /><Relationship Type="http://schemas.openxmlformats.org/officeDocument/2006/relationships/notesSlide" Target="/ppt/notesSlides/notesSlide12.xml" Id="Ra78fecb439ca46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C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25e54378e497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05556-CE52-4A98-8663-588AAC84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НЕФТЕКОД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C14109-603C-4BFD-BC60-79959E33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857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Качество топлива.</a:t>
            </a:r>
          </a:p>
          <a:p xmlns:a="http://schemas.openxmlformats.org/drawingml/2006/main">
            <a:pPr>
              <a:defRPr sz="4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Проверяемое</a:t>
            </a:r>
          </a:p>
          <a:p xmlns:a="http://schemas.openxmlformats.org/drawingml/2006/main">
            <a:pPr>
              <a:defRPr sz="4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решение.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D1B2A-B004-4AAD-9DCD-23DE8F23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Локальный прототип поддержки технолога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4CFF9-5810-46EA-961E-DDC28C8C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341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FC3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FC3CA"/>
                </a:solidFill>
                <a:latin typeface="Arial"/>
                <a:ea typeface="Arial"/>
                <a:cs typeface="Arial"/>
              </a:rPr>
              <a:t>ФИНАЛЬНАЯ ПОСТАВКА  /  22 СЕНТЯБРЯ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10553884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C2206-0356-4B6C-82C3-25A95969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ЗАДАЧА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FF4403-16CE-40CF-983A-4736F493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Одна цепочка. Разные уровни доказательств.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099D6C-98E7-4ADC-BE6B-5EF661C4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701EB-34EE-41E9-B2CA-42729E9F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E0A39B-BEFD-430F-8B64-E062CCAC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АВТ  →  Гидроочистка  →  Смешение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41B198-FDC1-4FF0-A108-A1B6EF40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F3489-C36A-42B0-85C6-02ECC64E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38475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История: измерения и прогноз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4C214B-D1FE-452B-B74D-D0430C98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05200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Доступные к моменту расчёта данные; оценка серы через 60 минут.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54531-032F-4E6E-8DCE-68A3487C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A3C454-7542-4B68-9972-D8159D3D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29125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Смешение: модельная рецептура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E78D02-8D63-4F27-9070-6D80D8BA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95850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Проверка серы, T95, цетанового числа и допустимости состава.</a:t>
            </a:r>
          </a:p>
        </p:txBody>
      </p:sp>
    </p:spTree>
    <p:extLst>
      <p:ext uri="{BB962C8B-B14F-4D97-AF65-F5344CB8AC3E}">
        <p14:creationId xmlns:p14="http://schemas.microsoft.com/office/powerpoint/2010/main" val="9911336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C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C0E93-703A-488B-A49E-A69BAD85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КОНТРАКТ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31753-5B09-4D09-AF3D-74EA341C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Будущий анализ не становится известным заранее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D63DA-80BF-45FF-9559-68DC7C60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3A9B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3A9B1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D0D74E-A442-4EAE-B49A-1A568DB0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33972-9838-4E60-BEA6-BDED4757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10:00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94F88-F678-4D2A-B512-95279587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6217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12:00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6CEB2-F806-400F-81F5-5E1CD3DE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6217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F3BA6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F3BA68"/>
                </a:solidFill>
                <a:latin typeface="Arial"/>
                <a:ea typeface="Arial"/>
                <a:cs typeface="Arial"/>
              </a:rPr>
              <a:t>14:00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9478D-08AB-4298-A3CE-27348220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Отбор пробы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measured_at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4C2B7-C9CB-4E33-A78E-3D20AE7A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766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Расчёт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анализ ещё недоступен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DAB77-E09A-4657-ADF6-DD2370B0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2766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Публикация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available_at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D595A-69F6-422A-B916-0B433E57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measured_at ≤ t   и   available_at ≤ 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25862E-FC2F-4881-A4D4-6A3BE817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8C9C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8C9CD"/>
                </a:solidFill>
                <a:latin typeface="Arial"/>
                <a:ea typeface="Arial"/>
                <a:cs typeface="Arial"/>
              </a:rPr>
              <a:t>Источник, свежесть, пропуски и конфликты остаются видимыми.</a:t>
            </a:r>
          </a:p>
        </p:txBody>
      </p:sp>
    </p:spTree>
    <p:extLst>
      <p:ext uri="{BB962C8B-B14F-4D97-AF65-F5344CB8AC3E}">
        <p14:creationId xmlns:p14="http://schemas.microsoft.com/office/powerpoint/2010/main" val="4753659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EC626-6AA5-467F-BCA1-A873FFB1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707BC-E874-4D9B-BA24-58C9DBCB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Роли агентов — проверяемые входы и выходы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08C5E-47CC-4517-89DA-65575244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2E71BE-53DE-453F-92E3-16DC01CE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009775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05275"/>
                <a:gridCol w="6867525"/>
              </a:tblGrid>
              <a:tr h="6477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Компонент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Ответственность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Данные и признаки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Доступное состояние, лаги и окна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Агенты качества и надёжности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Оценка свойств и риска либо явный отказ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Оптимизатор и оркестратор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Кандидаты → ограничения → порядок критериев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Интерфейс и журнал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Объяснение, рецептура, JSON и след расчёта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C3D3A-DFAB-4967-AF30-E3EB1811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0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Локальный Python. LLM и внешние API для расчёта не нужны.</a:t>
            </a:r>
          </a:p>
        </p:txBody>
      </p:sp>
    </p:spTree>
    <p:extLst>
      <p:ext uri="{BB962C8B-B14F-4D97-AF65-F5344CB8AC3E}">
        <p14:creationId xmlns:p14="http://schemas.microsoft.com/office/powerpoint/2010/main" val="14841766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C7F9E-0973-401B-A0F8-FF52B92F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РЕАЛЬНЫЙ ЭКРАН ПРОДУКТА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CAB8F-7125-471C-B64C-2BF6E18F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От исходного состояния к точной рецептуре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B568B-5697-4266-A836-972D019E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DAC70-724A-4344-81B8-AC766856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bf293291c4237"/>
          <a:stretch xmlns:a="http://schemas.openxmlformats.org/drawingml/2006/main"/>
        </p:blipFill>
        <p:spPr>
          <a:xfrm xmlns:a="http://schemas.openxmlformats.org/drawingml/2006/main">
            <a:off x="613516" y="1885950"/>
            <a:ext cx="6326293" cy="44481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1B655-B8C2-4DF1-BB88-15859799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247900"/>
            <a:ext cx="44291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14,058 → 9,306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02BAE-BD9D-43CA-8E59-3BAA47AA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14675"/>
            <a:ext cx="40386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52C"/>
                </a:solidFill>
                <a:latin typeface="Arial"/>
                <a:ea typeface="Arial"/>
                <a:cs typeface="Arial"/>
              </a:rPr>
              <a:t>мг/кг, верхняя</a:t>
            </a:r>
          </a:p>
          <a:p xmlns:a="http://schemas.openxmlformats.org/drawingml/2006/main">
            <a:pPr>
              <a:defRPr sz="2100" b="0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52C"/>
                </a:solidFill>
                <a:latin typeface="Arial"/>
                <a:ea typeface="Arial"/>
                <a:cs typeface="Arial"/>
              </a:rPr>
              <a:t>модельная оценка серы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ECBA6-3530-499F-9D2A-F42D329A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81500"/>
            <a:ext cx="41433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A / B / присадка</a:t>
            </a:r>
          </a:p>
          <a:p xmlns:a="http://schemas.openxmlformats.org/drawingml/2006/main">
            <a:pPr>
              <a:defRPr sz="2325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89,1 / 9,9 / 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9D830E-E150-4706-8195-6EA6AD3B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772150"/>
            <a:ext cx="41814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 промышленный эксперимент.</a:t>
            </a:r>
          </a:p>
        </p:txBody>
      </p:sp>
    </p:spTree>
    <p:extLst>
      <p:ext uri="{BB962C8B-B14F-4D97-AF65-F5344CB8AC3E}">
        <p14:creationId xmlns:p14="http://schemas.microsoft.com/office/powerpoint/2010/main" val="20763708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D6CDD-6A07-4D67-9A05-58F4FA1B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МОДЕЛЬНАЯ ДЕМОНСТРАЦИЯ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4A3E55-EA98-438D-8CE7-DFCBD693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Шесть сценариев проверяют разные исходы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57F63-A997-409C-A23C-35E04C81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954F0F-ED5A-4CF4-A557-C4D26C11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4152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86150"/>
                <a:gridCol w="2343150"/>
                <a:gridCol w="5143500"/>
              </a:tblGrid>
              <a:tr h="593271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Сценарий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проверяется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</a:tr>
              <a:tr h="59327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Нормальный режим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Сохранить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Не менять допустимую рецептуру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59327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Риск серы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Рекомендовать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Сера ≤ 10 мг/кг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  <a:tr h="59327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Риск T95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Рекомендовать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T95 ≤ 360 °C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59327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Низкое цетановое число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Рекомендовать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CN ≥ 51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  <a:tr h="59327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Недостающие данные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Отказаться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Неизвестное не равно нулю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593271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Риск и стоимость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Рекомендовать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Конфликт двух критериев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7266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2C5EA-20FF-4A00-959F-A199A393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КОНФЛИКТ КРИТЕРИЕВ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91204-A2E1-4084-8999-108E4A62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Меньший риск может стоить дороже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6A7476-5E1B-44A8-9106-FDFD328C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E3BCE-6CBB-4775-8759-DCE9C9D2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028825"/>
          <a:ext xmlns:a="http://schemas.openxmlformats.org/drawingml/2006/main" cx="10972800" cy="2800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53050"/>
                <a:gridCol w="2762250"/>
                <a:gridCol w="2857500"/>
              </a:tblGrid>
              <a:tr h="700088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Исходно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Выбрано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</a:tr>
              <a:tr h="700088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Модельный риск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0,80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700088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Стоимостной прокси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1,9900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2,0395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  <a:tr h="700088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Жёсткие ограничения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Выполнены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Выполнены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5087D8-7FCF-43A9-ACE2-0AD1D93E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Снижение риска имеет приоритет перед стоимостью.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99D5D-5804-485F-BDA1-B6FD19CB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061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Выпуск фиксирован: 100 т. Промышленная экономия не заявляется.</a:t>
            </a:r>
          </a:p>
        </p:txBody>
      </p:sp>
    </p:spTree>
    <p:extLst>
      <p:ext uri="{BB962C8B-B14F-4D97-AF65-F5344CB8AC3E}">
        <p14:creationId xmlns:p14="http://schemas.microsoft.com/office/powerpoint/2010/main" val="18466726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627D4-69F5-45A0-89CB-C54D694A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РЕАЛЬНЫЕ ДАННЫЕ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1F9821-9009-4C7C-ADDB-4056468E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Исторический прогноз: точка и верхняя оценка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C79E6-35C3-4BED-B55E-9A038666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8C3F2-78AF-46F2-B545-EE8EF56A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085975"/>
          <a:ext xmlns:a="http://schemas.openxmlformats.org/drawingml/2006/main" cx="1097280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91025"/>
                <a:gridCol w="3143250"/>
                <a:gridCol w="3438525"/>
              </a:tblGrid>
              <a:tr h="7778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01.06.2025, Москва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Точка, мг/кг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Верхняя, мг/кг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</a:tr>
              <a:tr h="777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12:00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10,15656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10,38809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77787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13:00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9,00645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10,27399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8A9BC-A20F-4F61-8594-AE4DE4F1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Прогноз не разрешает менять уставки.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D65DC-E8C7-497D-9319-2D4963EF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915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Интервал: прогресс, отмена, частичный результат и экспорт.</a:t>
            </a:r>
          </a:p>
        </p:txBody>
      </p:sp>
    </p:spTree>
    <p:extLst>
      <p:ext uri="{BB962C8B-B14F-4D97-AF65-F5344CB8AC3E}">
        <p14:creationId xmlns:p14="http://schemas.microsoft.com/office/powerpoint/2010/main" val="1891704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0106F-D5CB-4617-B7FC-456EAF5A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ML • ОТЛОЖЕННЫЙ 2026 ГОД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B973C-7540-4452-A85A-C7E25865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Независимый test: результат без приукрашивания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EE5AD-523B-4EF6-A379-4ADCDFEF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335BB-25C0-4C91-AD32-B1E33043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152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239000"/>
                <a:gridCol w="3733800"/>
              </a:tblGrid>
              <a:tr h="63055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marL="133350" marR="133350" marT="123825" marB="95250">
                    <a:solidFill>
                      <a:srgbClr val="14252C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Сопоставимые валидные цели ПАК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31 819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MAE модели / persistence baseline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0,6842 / 0,6842 мг/кг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MAE вблизи порога 8–12 мг/кг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0,7899 мг/кг</a:t>
                      </a:r>
                    </a:p>
                  </a:txBody>
                  <a:tcPr marL="133350" marR="133350" marT="123825" marB="95250">
                    <a:solidFill>
                      <a:srgbClr val="E5EBE7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Пропуски превышений точечного прогноза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52C"/>
                          </a:solidFill>
                          <a:latin typeface="Arial"/>
                          <a:ea typeface="Arial"/>
                          <a:cs typeface="Arial"/>
                        </a:rPr>
                        <a:t>1 345 / 4 706 = 28,58%</a:t>
                      </a:r>
                    </a:p>
                  </a:txBody>
                  <a:tcPr marL="133350" marR="133350" marT="123825" marB="95250">
                    <a:solidFill>
                      <a:srgbClr val="F2F3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B83CE-6BE0-44FF-82E1-5848F079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Точечный прогноз не превосходит baseline.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10D3C-2E7F-4D8C-B1CE-8EB39DF8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Пороговые ошибки не являются оценкой upper-политики или v2.</a:t>
            </a:r>
          </a:p>
        </p:txBody>
      </p:sp>
    </p:spTree>
    <p:extLst>
      <p:ext uri="{BB962C8B-B14F-4D97-AF65-F5344CB8AC3E}">
        <p14:creationId xmlns:p14="http://schemas.microsoft.com/office/powerpoint/2010/main" val="8195199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A6F190-1195-4894-A209-E9609D41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ПРИМЕНИМОСТЬ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18C7A-9FA7-49DA-AC55-973DE08F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Дополнительные режимы подписаны по назначению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47A7F1-0551-4373-B964-101EF412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79164-9DA5-49D5-AEA9-17173F89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124C4-D93C-4A52-8F10-37AF9102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0A0BC3-DF63-4F3C-8FD8-1AF6C416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57400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Hybrid: условное смешение по сере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75597E-5EF6-4207-9841-9AF4320C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24125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 заменяет полный паспорт качества товарной смеси.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33B4F-DED6-482F-95C0-0D937F89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D6AA54-CA51-4030-A40C-C3E1EA19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48050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v2: исследовательский риск эпизода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855D18-85E6-4029-8496-CBFD4793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14775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Горизонты 10, 20, 30 и 60 минут; только shadow-наблюдение.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9D395-C642-4060-A325-67625D01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8C2FFF-B39D-45A8-B733-39F9252D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38700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Исследование P8 / F19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A58C7-CAFB-4AEF-869A-4F5B4595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05425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 входит в штатный контур реальных управляющих действий.</a:t>
            </a:r>
          </a:p>
        </p:txBody>
      </p:sp>
    </p:spTree>
    <p:extLst>
      <p:ext uri="{BB962C8B-B14F-4D97-AF65-F5344CB8AC3E}">
        <p14:creationId xmlns:p14="http://schemas.microsoft.com/office/powerpoint/2010/main" val="2062503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2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7650E-919A-449F-88CA-AE3027D6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ПОСТАВКА ДЛЯ ЖЮРИ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BFFF6-7C1C-46C1-82DB-6F0C12E7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Распаковать. Запустить. Воспроизвести.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A8046-C183-4F5D-BFF0-7F864387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BE39C-D816-4533-9DC9-B250DAD3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7F7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1D1F0-0A62-45BF-920A-84A760C2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C781F-0710-450D-B73E-50F1D853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57400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Neftekod.exe + автономное окружение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45268-4B3B-41AC-8B8F-7B2DFCB8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24125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Windows x64; интернет, установка Python и обучение не нужны.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11757-5A1D-42B1-9432-67AE2A48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16187-0A11-4BA8-939A-DC7ED897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48050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Код, данные и модели в одном комплекте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AEBBE-D878-49E1-AEBA-47F14133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14775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Закреплённые версии, журналы и контрольные суммы SHA-256.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583A68-2DFC-41E2-A958-3EDC8363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07F7B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07F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3659E-55E6-474A-8F47-28492C56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38700"/>
            <a:ext cx="10153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252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52C"/>
                </a:solidFill>
                <a:latin typeface="Arial"/>
                <a:ea typeface="Arial"/>
                <a:cs typeface="Arial"/>
              </a:rPr>
              <a:t>Презентация, документ и сценарий показа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DDC65-72D6-45E4-80E4-CED54318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05425"/>
            <a:ext cx="10058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86C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C73"/>
                </a:solidFill>
                <a:latin typeface="Arial"/>
                <a:ea typeface="Arial"/>
                <a:cs typeface="Arial"/>
              </a:rPr>
              <a:t>Те же режимы, числа и ограничения, что в приложении.</a:t>
            </a:r>
          </a:p>
        </p:txBody>
      </p:sp>
    </p:spTree>
    <p:extLst>
      <p:ext uri="{BB962C8B-B14F-4D97-AF65-F5344CB8AC3E}">
        <p14:creationId xmlns:p14="http://schemas.microsoft.com/office/powerpoint/2010/main" val="13783807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1C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62EC41-EA48-40FC-9815-CDE04F64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ИТОГ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3B1AF-C946-4DFF-BF89-237036A3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Проверяемый прототип поддержки решений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0944D-4B35-4D51-9E3B-4B19F119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3A9B1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3A9B1"/>
                </a:solidFill>
                <a:latin typeface="Arial"/>
                <a:ea typeface="Arial"/>
                <a:cs typeface="Arial"/>
              </a:rPr>
              <a:t>НЕФТЕКОД 2.0  /  СИСТЕМА ПОДДЕРЖКИ РЕШЕНИЙ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EE333-BC95-41F4-AC42-9EF6395C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410325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F55A4-E0B2-4729-96A7-FDE7BC9C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Данные → прогноз → проверка → объяснение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478FE-B26C-46CE-A349-F63E54E8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2D8C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2D8C7"/>
                </a:solidFill>
                <a:latin typeface="Arial"/>
                <a:ea typeface="Arial"/>
                <a:cs typeface="Arial"/>
              </a:rPr>
              <a:t>Что показываем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34ED3-8EBC-4F47-963C-9AA224F7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4768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Рецептуры, ограничения, исторический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риск и воспроизводимый журнал.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B1197-BDDE-48C6-9D31-8BF0778E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48100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3BA6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3BA68"/>
                </a:solidFill>
                <a:latin typeface="Arial"/>
                <a:ea typeface="Arial"/>
                <a:cs typeface="Arial"/>
              </a:rPr>
              <a:t>Чего не заявляем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F6FF7B-E2C9-4F36-B15D-14099EE3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419600"/>
            <a:ext cx="48577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Автономное управление, причинный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эффект и промышленную экономию.</a:t>
            </a:r>
          </a:p>
        </p:txBody>
      </p:sp>
    </p:spTree>
    <p:extLst>
      <p:ext uri="{BB962C8B-B14F-4D97-AF65-F5344CB8AC3E}">
        <p14:creationId xmlns:p14="http://schemas.microsoft.com/office/powerpoint/2010/main" val="20574224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2026-09-21T21:20:50.5120000Z</dcterms:created>
  <dcterms:modified xsi:type="dcterms:W3CDTF">2026-09-21T21:20:50.5120000Z</dcterms:modified>
</coreProperties>
</file>